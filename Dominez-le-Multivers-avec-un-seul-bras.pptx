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Syne"/>
      <p:regular r:id="rId201314"/>
    </p:embeddedFont>
    <p:embeddedFont>
      <p:font typeface="Syne Bold"/>
      <p:regular r:id="rId201315"/>
    </p:embeddedFont>
    <p:embeddedFont>
      <p:font typeface="Syne Extra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52025">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736005"/>
            <a:ext cx="1972122" cy="287139"/>
          </a:xfrm>
          <a:prstGeom prst="roundRect">
            <a:avLst>
              <a:gd name="adj" fmla="val 22118"/>
            </a:avLst>
          </a:prstGeom>
          <a:solidFill>
            <a:srgbClr val="334805"/>
          </a:solidFill>
          <a:ln/>
        </p:spPr>
      </p:sp>
      <p:sp>
        <p:nvSpPr>
          <p:cNvPr id="4" name="Text 1"/>
          <p:cNvSpPr/>
          <p:nvPr/>
        </p:nvSpPr>
        <p:spPr>
          <a:xfrm>
            <a:off x="774879" y="792659"/>
            <a:ext cx="2354898" cy="173831"/>
          </a:xfrm>
          <a:prstGeom prst="rect">
            <a:avLst/>
          </a:prstGeom>
          <a:noFill/>
          <a:ln/>
        </p:spPr>
        <p:txBody>
          <a:bodyPr wrap="none" lIns="0" tIns="0" rIns="0" bIns="0" rtlCol="0" anchor="t"/>
          <a:lstStyle/>
          <a:p>
            <a:pPr algn="l" indent="0" marL="0">
              <a:lnSpc>
                <a:spcPct val="96000"/>
              </a:lnSpc>
              <a:buNone/>
            </a:pPr>
            <a:r>
              <a:rPr lang="en-US" sz="1150" dirty="0">
                <a:solidFill>
                  <a:srgbClr val="D7E5D8"/>
                </a:solidFill>
                <a:latin typeface="Syne" pitchFamily="34" charset="0"/>
                <a:ea typeface="Syne" pitchFamily="34" charset="-122"/>
                <a:cs typeface="Syne" pitchFamily="34" charset="-120"/>
              </a:rPr>
              <a:t>RICK &amp; MORTY UNIVERSE</a:t>
            </a:r>
            <a:endParaRPr lang="en-US" sz="1150" dirty="0"/>
          </a:p>
        </p:txBody>
      </p:sp>
      <p:sp>
        <p:nvSpPr>
          <p:cNvPr id="5" name="Text 2"/>
          <p:cNvSpPr/>
          <p:nvPr/>
        </p:nvSpPr>
        <p:spPr>
          <a:xfrm>
            <a:off x="661475" y="1098748"/>
            <a:ext cx="6296860" cy="590649"/>
          </a:xfrm>
          <a:prstGeom prst="rect">
            <a:avLst/>
          </a:prstGeom>
          <a:noFill/>
          <a:ln/>
        </p:spPr>
        <p:txBody>
          <a:bodyPr wrap="none" lIns="0" tIns="0" rIns="0" bIns="0" rtlCol="0" anchor="t"/>
          <a:lstStyle/>
          <a:p>
            <a:pPr algn="l" indent="0" marL="0">
              <a:lnSpc>
                <a:spcPct val="104000"/>
              </a:lnSpc>
              <a:buNone/>
            </a:pPr>
            <a:r>
              <a:rPr lang="en-US" sz="3700" dirty="0">
                <a:solidFill>
                  <a:srgbClr val="F0F4F1"/>
                </a:solidFill>
                <a:latin typeface="Syne ExtraBold" pitchFamily="34" charset="0"/>
                <a:ea typeface="Syne ExtraBold" pitchFamily="34" charset="-122"/>
                <a:cs typeface="Syne ExtraBold" pitchFamily="34" charset="-120"/>
              </a:rPr>
              <a:t>armsPGL</a:t>
            </a:r>
            <a:endParaRPr lang="en-US" sz="3700" dirty="0"/>
          </a:p>
        </p:txBody>
      </p:sp>
      <p:sp>
        <p:nvSpPr>
          <p:cNvPr id="6" name="Text 3"/>
          <p:cNvSpPr/>
          <p:nvPr/>
        </p:nvSpPr>
        <p:spPr>
          <a:xfrm>
            <a:off x="661475" y="1972866"/>
            <a:ext cx="6296860" cy="3260725"/>
          </a:xfrm>
          <a:prstGeom prst="rect">
            <a:avLst/>
          </a:prstGeom>
          <a:noFill/>
          <a:ln/>
        </p:spPr>
        <p:txBody>
          <a:bodyPr wrap="square" lIns="0" tIns="0" rIns="0" bIns="0" rtlCol="0" anchor="t">
            <a:normAutofit/>
          </a:bodyPr>
          <a:lstStyle/>
          <a:p>
            <a:pPr algn="l" indent="0" marL="0">
              <a:lnSpc>
                <a:spcPct val="104000"/>
              </a:lnSpc>
              <a:buNone/>
            </a:pPr>
            <a:r>
              <a:rPr lang="en-US" sz="5100" dirty="0">
                <a:solidFill>
                  <a:srgbClr val="F0F4F1"/>
                </a:solidFill>
                <a:latin typeface="Syne ExtraBold" pitchFamily="34" charset="0"/>
                <a:ea typeface="Syne ExtraBold" pitchFamily="34" charset="-122"/>
                <a:cs typeface="Syne ExtraBold" pitchFamily="34" charset="-120"/>
              </a:rPr>
              <a:t>Dominez le Multivers avec un seul bras.</a:t>
            </a:r>
            <a:endParaRPr lang="en-US" sz="5100" dirty="0"/>
          </a:p>
        </p:txBody>
      </p:sp>
      <p:sp>
        <p:nvSpPr>
          <p:cNvPr id="7" name="Text 4"/>
          <p:cNvSpPr/>
          <p:nvPr/>
        </p:nvSpPr>
        <p:spPr>
          <a:xfrm>
            <a:off x="661475" y="5517059"/>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Le premier avant-bras mécatronique multi-dimensionnel. Portail. Gravité. Désintégration. Tout ça dans un seul membre.</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27844"/>
            <a:ext cx="6296860" cy="1126133"/>
          </a:xfrm>
          <a:prstGeom prst="rect">
            <a:avLst/>
          </a:prstGeom>
          <a:noFill/>
          <a:ln/>
        </p:spPr>
        <p:txBody>
          <a:bodyPr wrap="square" lIns="0" tIns="0" rIns="0" bIns="0" rtlCol="0" anchor="t">
            <a:normAutofit/>
          </a:bodyPr>
          <a:lstStyle/>
          <a:p>
            <a:pPr algn="l" indent="0" marL="0">
              <a:lnSpc>
                <a:spcPct val="104000"/>
              </a:lnSpc>
              <a:buNone/>
            </a:pPr>
            <a:r>
              <a:rPr lang="en-US" sz="3500" dirty="0">
                <a:solidFill>
                  <a:srgbClr val="F0F4F1"/>
                </a:solidFill>
                <a:latin typeface="Syne ExtraBold" pitchFamily="34" charset="0"/>
                <a:ea typeface="Syne ExtraBold" pitchFamily="34" charset="-122"/>
                <a:cs typeface="Syne ExtraBold" pitchFamily="34" charset="-120"/>
              </a:rPr>
              <a:t>La réalité est décevante</a:t>
            </a:r>
            <a:endParaRPr lang="en-US" sz="35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911548"/>
            <a:ext cx="6296860" cy="1358404"/>
          </a:xfrm>
          <a:prstGeom prst="rect">
            <a:avLst/>
          </a:prstGeom>
        </p:spPr>
      </p:pic>
      <p:sp>
        <p:nvSpPr>
          <p:cNvPr id="5" name="Text 1"/>
          <p:cNvSpPr/>
          <p:nvPr/>
        </p:nvSpPr>
        <p:spPr>
          <a:xfrm>
            <a:off x="5540435" y="2117030"/>
            <a:ext cx="5784308" cy="281484"/>
          </a:xfrm>
          <a:prstGeom prst="rect">
            <a:avLst/>
          </a:prstGeom>
          <a:noFill/>
          <a:ln/>
        </p:spPr>
        <p:txBody>
          <a:bodyPr wrap="none" lIns="0" tIns="0" rIns="0" bIns="0" rtlCol="0" anchor="t"/>
          <a:lstStyle/>
          <a:p>
            <a:pPr algn="l" indent="0" marL="0">
              <a:lnSpc>
                <a:spcPct val="104000"/>
              </a:lnSpc>
              <a:buNone/>
            </a:pPr>
            <a:r>
              <a:rPr lang="en-US" sz="1750" dirty="0">
                <a:solidFill>
                  <a:srgbClr val="D7E5D8"/>
                </a:solidFill>
                <a:latin typeface="Syne ExtraBold" pitchFamily="34" charset="0"/>
                <a:ea typeface="Syne ExtraBold" pitchFamily="34" charset="-122"/>
                <a:cs typeface="Syne ExtraBold" pitchFamily="34" charset="-120"/>
              </a:rPr>
              <a:t>Les lois de la physique ?</a:t>
            </a:r>
            <a:endParaRPr lang="en-US" sz="1750" dirty="0"/>
          </a:p>
        </p:txBody>
      </p:sp>
      <p:sp>
        <p:nvSpPr>
          <p:cNvPr id="6" name="Text 2"/>
          <p:cNvSpPr/>
          <p:nvPr/>
        </p:nvSpPr>
        <p:spPr>
          <a:xfrm>
            <a:off x="5540435" y="2501503"/>
            <a:ext cx="5784308"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D7E5D8"/>
                </a:solidFill>
                <a:latin typeface="Syne" pitchFamily="34" charset="0"/>
                <a:ea typeface="Syne" pitchFamily="34" charset="-122"/>
                <a:cs typeface="Syne" pitchFamily="34" charset="-120"/>
              </a:rPr>
              <a:t>Des suggestions, en vrai. La gravité, le temps, l'espace — tout ça peut être négocié.</a:t>
            </a:r>
            <a:endParaRPr lang="en-US" sz="14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441601"/>
            <a:ext cx="6296860" cy="1358404"/>
          </a:xfrm>
          <a:prstGeom prst="rect">
            <a:avLst/>
          </a:prstGeom>
        </p:spPr>
      </p:pic>
      <p:sp>
        <p:nvSpPr>
          <p:cNvPr id="8" name="Text 3"/>
          <p:cNvSpPr/>
          <p:nvPr/>
        </p:nvSpPr>
        <p:spPr>
          <a:xfrm>
            <a:off x="5540435" y="3647083"/>
            <a:ext cx="5784308" cy="281484"/>
          </a:xfrm>
          <a:prstGeom prst="rect">
            <a:avLst/>
          </a:prstGeom>
          <a:noFill/>
          <a:ln/>
        </p:spPr>
        <p:txBody>
          <a:bodyPr wrap="none" lIns="0" tIns="0" rIns="0" bIns="0" rtlCol="0" anchor="t"/>
          <a:lstStyle/>
          <a:p>
            <a:pPr algn="l" indent="0" marL="0">
              <a:lnSpc>
                <a:spcPct val="104000"/>
              </a:lnSpc>
              <a:buNone/>
            </a:pPr>
            <a:r>
              <a:rPr lang="en-US" sz="1750" dirty="0">
                <a:solidFill>
                  <a:srgbClr val="D7E5D8"/>
                </a:solidFill>
                <a:latin typeface="Syne ExtraBold" pitchFamily="34" charset="0"/>
                <a:ea typeface="Syne ExtraBold" pitchFamily="34" charset="-122"/>
                <a:cs typeface="Syne ExtraBold" pitchFamily="34" charset="-120"/>
              </a:rPr>
              <a:t>Pourquoi marcher ?</a:t>
            </a:r>
            <a:endParaRPr lang="en-US" sz="1750" dirty="0"/>
          </a:p>
        </p:txBody>
      </p:sp>
      <p:sp>
        <p:nvSpPr>
          <p:cNvPr id="9" name="Text 4"/>
          <p:cNvSpPr/>
          <p:nvPr/>
        </p:nvSpPr>
        <p:spPr>
          <a:xfrm>
            <a:off x="5540435" y="4031555"/>
            <a:ext cx="5784308"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D7E5D8"/>
                </a:solidFill>
                <a:latin typeface="Syne" pitchFamily="34" charset="0"/>
                <a:ea typeface="Syne" pitchFamily="34" charset="-122"/>
                <a:cs typeface="Syne" pitchFamily="34" charset="-120"/>
              </a:rPr>
              <a:t>Quand vous pouvez plier l'espace-temps pour arriver directement là où vous voulez.</a:t>
            </a:r>
            <a:endParaRPr lang="en-US" sz="14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971653"/>
            <a:ext cx="6296860" cy="1358404"/>
          </a:xfrm>
          <a:prstGeom prst="rect">
            <a:avLst/>
          </a:prstGeom>
        </p:spPr>
      </p:pic>
      <p:sp>
        <p:nvSpPr>
          <p:cNvPr id="11" name="Text 5"/>
          <p:cNvSpPr/>
          <p:nvPr/>
        </p:nvSpPr>
        <p:spPr>
          <a:xfrm>
            <a:off x="5540435" y="5177135"/>
            <a:ext cx="5784308" cy="281484"/>
          </a:xfrm>
          <a:prstGeom prst="rect">
            <a:avLst/>
          </a:prstGeom>
          <a:noFill/>
          <a:ln/>
        </p:spPr>
        <p:txBody>
          <a:bodyPr wrap="none" lIns="0" tIns="0" rIns="0" bIns="0" rtlCol="0" anchor="t"/>
          <a:lstStyle/>
          <a:p>
            <a:pPr algn="l" indent="0" marL="0">
              <a:lnSpc>
                <a:spcPct val="104000"/>
              </a:lnSpc>
              <a:buNone/>
            </a:pPr>
            <a:r>
              <a:rPr lang="en-US" sz="1750" dirty="0">
                <a:solidFill>
                  <a:srgbClr val="D7E5D8"/>
                </a:solidFill>
                <a:latin typeface="Syne ExtraBold" pitchFamily="34" charset="0"/>
                <a:ea typeface="Syne ExtraBold" pitchFamily="34" charset="-122"/>
                <a:cs typeface="Syne ExtraBold" pitchFamily="34" charset="-120"/>
              </a:rPr>
              <a:t>Survivre au quotidien</a:t>
            </a:r>
            <a:endParaRPr lang="en-US" sz="1750" dirty="0"/>
          </a:p>
        </p:txBody>
      </p:sp>
      <p:sp>
        <p:nvSpPr>
          <p:cNvPr id="12" name="Text 6"/>
          <p:cNvSpPr/>
          <p:nvPr/>
        </p:nvSpPr>
        <p:spPr>
          <a:xfrm>
            <a:off x="5540435" y="5561608"/>
            <a:ext cx="5784308" cy="562967"/>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D7E5D8"/>
                </a:solidFill>
                <a:latin typeface="Syne" pitchFamily="34" charset="0"/>
                <a:ea typeface="Syne" pitchFamily="34" charset="-122"/>
                <a:cs typeface="Syne" pitchFamily="34" charset="-120"/>
              </a:rPr>
              <a:t>Dans une dimension hostile, le moindre imprévu peut vous tuer. Ou pire, vous ennuyer.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053802"/>
            <a:ext cx="6908330" cy="3886002"/>
          </a:xfrm>
          <a:prstGeom prst="rect">
            <a:avLst/>
          </a:prstGeom>
        </p:spPr>
      </p:pic>
      <p:sp>
        <p:nvSpPr>
          <p:cNvPr id="3" name="Shape 0"/>
          <p:cNvSpPr/>
          <p:nvPr/>
        </p:nvSpPr>
        <p:spPr>
          <a:xfrm>
            <a:off x="8022826" y="741561"/>
            <a:ext cx="1072131" cy="278110"/>
          </a:xfrm>
          <a:prstGeom prst="roundRect">
            <a:avLst>
              <a:gd name="adj" fmla="val 22123"/>
            </a:avLst>
          </a:prstGeom>
          <a:noFill/>
          <a:ln w="6350">
            <a:solidFill>
              <a:srgbClr val="A9F00F"/>
            </a:solidFill>
            <a:prstDash val="solid"/>
          </a:ln>
        </p:spPr>
      </p:sp>
      <p:sp>
        <p:nvSpPr>
          <p:cNvPr id="4" name="Text 1"/>
          <p:cNvSpPr/>
          <p:nvPr/>
        </p:nvSpPr>
        <p:spPr>
          <a:xfrm>
            <a:off x="8132658" y="796429"/>
            <a:ext cx="1462051" cy="168374"/>
          </a:xfrm>
          <a:prstGeom prst="rect">
            <a:avLst/>
          </a:prstGeom>
          <a:noFill/>
          <a:ln/>
        </p:spPr>
        <p:txBody>
          <a:bodyPr wrap="none" lIns="0" tIns="0" rIns="0" bIns="0" rtlCol="0" anchor="t"/>
          <a:lstStyle/>
          <a:p>
            <a:pPr algn="l" indent="0" marL="0">
              <a:lnSpc>
                <a:spcPct val="96000"/>
              </a:lnSpc>
              <a:buNone/>
            </a:pPr>
            <a:r>
              <a:rPr lang="en-US" sz="1150" dirty="0">
                <a:solidFill>
                  <a:srgbClr val="A9F00F"/>
                </a:solidFill>
                <a:latin typeface="Syne" pitchFamily="34" charset="0"/>
                <a:ea typeface="Syne" pitchFamily="34" charset="-122"/>
                <a:cs typeface="Syne" pitchFamily="34" charset="-120"/>
              </a:rPr>
              <a:t>INNOVATION</a:t>
            </a:r>
            <a:endParaRPr lang="en-US" sz="1150" dirty="0"/>
          </a:p>
        </p:txBody>
      </p:sp>
      <p:sp>
        <p:nvSpPr>
          <p:cNvPr id="5" name="Text 2"/>
          <p:cNvSpPr/>
          <p:nvPr/>
        </p:nvSpPr>
        <p:spPr>
          <a:xfrm>
            <a:off x="8022826" y="1090613"/>
            <a:ext cx="3513645" cy="1716584"/>
          </a:xfrm>
          <a:prstGeom prst="rect">
            <a:avLst/>
          </a:prstGeom>
          <a:noFill/>
          <a:ln/>
        </p:spPr>
        <p:txBody>
          <a:bodyPr wrap="square" lIns="0" tIns="0" rIns="0" bIns="0" rtlCol="0" anchor="t">
            <a:normAutofit/>
          </a:bodyPr>
          <a:lstStyle/>
          <a:p>
            <a:pPr algn="l" indent="0" marL="0">
              <a:lnSpc>
                <a:spcPct val="104000"/>
              </a:lnSpc>
              <a:buNone/>
            </a:pPr>
            <a:r>
              <a:rPr lang="en-US" sz="3600" dirty="0">
                <a:solidFill>
                  <a:srgbClr val="F0F4F1"/>
                </a:solidFill>
                <a:latin typeface="Syne ExtraBold" pitchFamily="34" charset="0"/>
                <a:ea typeface="Syne ExtraBold" pitchFamily="34" charset="-122"/>
                <a:cs typeface="Syne ExtraBold" pitchFamily="34" charset="-120"/>
              </a:rPr>
              <a:t>Présentation du armsPGL</a:t>
            </a:r>
            <a:endParaRPr lang="en-US" sz="3600" dirty="0"/>
          </a:p>
        </p:txBody>
      </p:sp>
      <p:sp>
        <p:nvSpPr>
          <p:cNvPr id="6" name="Text 3"/>
          <p:cNvSpPr/>
          <p:nvPr/>
        </p:nvSpPr>
        <p:spPr>
          <a:xfrm>
            <a:off x="8022826" y="2984500"/>
            <a:ext cx="3513645" cy="2307431"/>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D7E5D8"/>
                </a:solidFill>
                <a:latin typeface="Syne" pitchFamily="34" charset="0"/>
                <a:ea typeface="Syne" pitchFamily="34" charset="-122"/>
                <a:cs typeface="Syne" pitchFamily="34" charset="-120"/>
              </a:rPr>
              <a:t>Le </a:t>
            </a:r>
            <a:pPr algn="l" indent="0" marL="0">
              <a:lnSpc>
                <a:spcPct val="131000"/>
              </a:lnSpc>
              <a:buNone/>
            </a:pPr>
            <a:r>
              <a:rPr lang="en-US" sz="1400" b="1" dirty="0">
                <a:solidFill>
                  <a:srgbClr val="D7E5D8"/>
                </a:solidFill>
                <a:latin typeface="Syne Bold" pitchFamily="34" charset="0"/>
                <a:ea typeface="Syne Bold" pitchFamily="34" charset="-122"/>
                <a:cs typeface="Syne Bold" pitchFamily="34" charset="-120"/>
              </a:rPr>
              <a:t>armsPGL</a:t>
            </a:r>
            <a:pPr algn="l" indent="0" marL="0">
              <a:lnSpc>
                <a:spcPct val="131000"/>
              </a:lnSpc>
              <a:buNone/>
            </a:pPr>
            <a:r>
              <a:rPr lang="en-US" sz="1400" dirty="0">
                <a:solidFill>
                  <a:srgbClr val="D7E5D8"/>
                </a:solidFill>
                <a:latin typeface="Syne" pitchFamily="34" charset="0"/>
                <a:ea typeface="Syne" pitchFamily="34" charset="-122"/>
                <a:cs typeface="Syne" pitchFamily="34" charset="-120"/>
              </a:rPr>
              <a:t> est le premier avant-bras mécatronique multi-dimensionnel au monde. Conçu avec la science chaotique mais brillante de Rick Sanchez, il intègre trois fonctionnalités révolutionnaires dans un design ergonomique adapté aux humains… et aux formes de vie non-carbonées.</a:t>
            </a:r>
            <a:endParaRPr lang="en-US" sz="1400" dirty="0"/>
          </a:p>
        </p:txBody>
      </p:sp>
      <p:sp>
        <p:nvSpPr>
          <p:cNvPr id="7" name="Shape 4"/>
          <p:cNvSpPr/>
          <p:nvPr/>
        </p:nvSpPr>
        <p:spPr>
          <a:xfrm>
            <a:off x="661475" y="5651103"/>
            <a:ext cx="3504715" cy="664865"/>
          </a:xfrm>
          <a:prstGeom prst="roundRect">
            <a:avLst>
              <a:gd name="adj" fmla="val 11567"/>
            </a:avLst>
          </a:prstGeom>
          <a:solidFill>
            <a:srgbClr val="547808"/>
          </a:solidFill>
          <a:ln w="6350">
            <a:solidFill>
              <a:srgbClr val="6D9121"/>
            </a:solidFill>
            <a:prstDash val="solid"/>
          </a:ln>
        </p:spPr>
      </p:sp>
      <p:sp>
        <p:nvSpPr>
          <p:cNvPr id="8" name="Text 5"/>
          <p:cNvSpPr/>
          <p:nvPr/>
        </p:nvSpPr>
        <p:spPr>
          <a:xfrm>
            <a:off x="850879" y="5840512"/>
            <a:ext cx="3125908" cy="286048"/>
          </a:xfrm>
          <a:prstGeom prst="rect">
            <a:avLst/>
          </a:prstGeom>
          <a:noFill/>
          <a:ln/>
        </p:spPr>
        <p:txBody>
          <a:bodyPr wrap="none" lIns="0" tIns="0" rIns="0" bIns="0" rtlCol="0" anchor="t"/>
          <a:lstStyle/>
          <a:p>
            <a:pPr algn="l" indent="0" marL="0">
              <a:lnSpc>
                <a:spcPct val="104000"/>
              </a:lnSpc>
              <a:buNone/>
            </a:pPr>
            <a:r>
              <a:rPr lang="en-US" sz="18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00" dirty="0">
                <a:solidFill>
                  <a:srgbClr val="FFFFFF"/>
                </a:solidFill>
                <a:latin typeface="Syne ExtraBold" pitchFamily="34" charset="0"/>
                <a:ea typeface="Syne ExtraBold" pitchFamily="34" charset="-122"/>
                <a:cs typeface="Syne ExtraBold" pitchFamily="34" charset="-120"/>
              </a:rPr>
              <a:t> Portail</a:t>
            </a:r>
            <a:endParaRPr lang="en-US" sz="1800" dirty="0"/>
          </a:p>
        </p:txBody>
      </p:sp>
      <p:sp>
        <p:nvSpPr>
          <p:cNvPr id="9" name="Shape 6"/>
          <p:cNvSpPr/>
          <p:nvPr/>
        </p:nvSpPr>
        <p:spPr>
          <a:xfrm>
            <a:off x="4343490" y="5651103"/>
            <a:ext cx="3504715" cy="664865"/>
          </a:xfrm>
          <a:prstGeom prst="roundRect">
            <a:avLst>
              <a:gd name="adj" fmla="val 11567"/>
            </a:avLst>
          </a:prstGeom>
          <a:solidFill>
            <a:srgbClr val="547808"/>
          </a:solidFill>
          <a:ln w="6350">
            <a:solidFill>
              <a:srgbClr val="6D9121"/>
            </a:solidFill>
            <a:prstDash val="solid"/>
          </a:ln>
        </p:spPr>
      </p:sp>
      <p:sp>
        <p:nvSpPr>
          <p:cNvPr id="10" name="Text 7"/>
          <p:cNvSpPr/>
          <p:nvPr/>
        </p:nvSpPr>
        <p:spPr>
          <a:xfrm>
            <a:off x="4532894" y="5840512"/>
            <a:ext cx="3125908" cy="286048"/>
          </a:xfrm>
          <a:prstGeom prst="rect">
            <a:avLst/>
          </a:prstGeom>
          <a:noFill/>
          <a:ln/>
        </p:spPr>
        <p:txBody>
          <a:bodyPr wrap="none" lIns="0" tIns="0" rIns="0" bIns="0" rtlCol="0" anchor="t"/>
          <a:lstStyle/>
          <a:p>
            <a:pPr algn="l" indent="0" marL="0">
              <a:lnSpc>
                <a:spcPct val="104000"/>
              </a:lnSpc>
              <a:buNone/>
            </a:pPr>
            <a:r>
              <a:rPr lang="en-US" sz="18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00" dirty="0">
                <a:solidFill>
                  <a:srgbClr val="FFFFFF"/>
                </a:solidFill>
                <a:latin typeface="Syne ExtraBold" pitchFamily="34" charset="0"/>
                <a:ea typeface="Syne ExtraBold" pitchFamily="34" charset="-122"/>
                <a:cs typeface="Syne ExtraBold" pitchFamily="34" charset="-120"/>
              </a:rPr>
              <a:t> Gravité</a:t>
            </a:r>
            <a:endParaRPr lang="en-US" sz="1800" dirty="0"/>
          </a:p>
        </p:txBody>
      </p:sp>
      <p:sp>
        <p:nvSpPr>
          <p:cNvPr id="11" name="Shape 8"/>
          <p:cNvSpPr/>
          <p:nvPr/>
        </p:nvSpPr>
        <p:spPr>
          <a:xfrm>
            <a:off x="8025505" y="5651103"/>
            <a:ext cx="3504715" cy="664865"/>
          </a:xfrm>
          <a:prstGeom prst="roundRect">
            <a:avLst>
              <a:gd name="adj" fmla="val 11567"/>
            </a:avLst>
          </a:prstGeom>
          <a:solidFill>
            <a:srgbClr val="547808"/>
          </a:solidFill>
          <a:ln w="6350">
            <a:solidFill>
              <a:srgbClr val="6D9121"/>
            </a:solidFill>
            <a:prstDash val="solid"/>
          </a:ln>
        </p:spPr>
      </p:sp>
      <p:sp>
        <p:nvSpPr>
          <p:cNvPr id="12" name="Text 9"/>
          <p:cNvSpPr/>
          <p:nvPr/>
        </p:nvSpPr>
        <p:spPr>
          <a:xfrm>
            <a:off x="8214909" y="5840512"/>
            <a:ext cx="3125908" cy="286048"/>
          </a:xfrm>
          <a:prstGeom prst="rect">
            <a:avLst/>
          </a:prstGeom>
          <a:noFill/>
          <a:ln/>
        </p:spPr>
        <p:txBody>
          <a:bodyPr wrap="none" lIns="0" tIns="0" rIns="0" bIns="0" rtlCol="0" anchor="t"/>
          <a:lstStyle/>
          <a:p>
            <a:pPr algn="l" indent="0" marL="0">
              <a:lnSpc>
                <a:spcPct val="104000"/>
              </a:lnSpc>
              <a:buNone/>
            </a:pPr>
            <a:r>
              <a:rPr lang="en-US" sz="18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00" dirty="0">
                <a:solidFill>
                  <a:srgbClr val="FFFFFF"/>
                </a:solidFill>
                <a:latin typeface="Syne ExtraBold" pitchFamily="34" charset="0"/>
                <a:ea typeface="Syne ExtraBold" pitchFamily="34" charset="-122"/>
                <a:cs typeface="Syne ExtraBold" pitchFamily="34" charset="-120"/>
              </a:rPr>
              <a:t> Lazer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1096566"/>
            <a:ext cx="1649669" cy="287139"/>
          </a:xfrm>
          <a:prstGeom prst="roundRect">
            <a:avLst>
              <a:gd name="adj" fmla="val 22118"/>
            </a:avLst>
          </a:prstGeom>
          <a:solidFill>
            <a:srgbClr val="334805"/>
          </a:solidFill>
          <a:ln/>
        </p:spPr>
      </p:sp>
      <p:sp>
        <p:nvSpPr>
          <p:cNvPr id="4" name="Text 1"/>
          <p:cNvSpPr/>
          <p:nvPr/>
        </p:nvSpPr>
        <p:spPr>
          <a:xfrm>
            <a:off x="774879" y="1153220"/>
            <a:ext cx="2032445" cy="173831"/>
          </a:xfrm>
          <a:prstGeom prst="rect">
            <a:avLst/>
          </a:prstGeom>
          <a:noFill/>
          <a:ln/>
        </p:spPr>
        <p:txBody>
          <a:bodyPr wrap="none" lIns="0" tIns="0" rIns="0" bIns="0" rtlCol="0" anchor="t"/>
          <a:lstStyle/>
          <a:p>
            <a:pPr algn="l" indent="0" marL="0">
              <a:lnSpc>
                <a:spcPct val="96000"/>
              </a:lnSpc>
              <a:buNone/>
            </a:pPr>
            <a:r>
              <a:rPr lang="en-US" sz="1150" dirty="0">
                <a:solidFill>
                  <a:srgbClr val="D7E5D8"/>
                </a:solidFill>
                <a:latin typeface="Syne" pitchFamily="34" charset="0"/>
                <a:ea typeface="Syne" pitchFamily="34" charset="-122"/>
                <a:cs typeface="Syne" pitchFamily="34" charset="-120"/>
              </a:rPr>
              <a:t>FONCTIONNALITÉ 01</a:t>
            </a:r>
            <a:endParaRPr lang="en-US" sz="1150" dirty="0"/>
          </a:p>
        </p:txBody>
      </p:sp>
      <p:sp>
        <p:nvSpPr>
          <p:cNvPr id="5" name="Text 2"/>
          <p:cNvSpPr/>
          <p:nvPr/>
        </p:nvSpPr>
        <p:spPr>
          <a:xfrm>
            <a:off x="661475" y="145930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F0F4F1"/>
                </a:solidFill>
                <a:latin typeface="Syne ExtraBold" pitchFamily="34" charset="0"/>
                <a:ea typeface="Syne ExtraBold" pitchFamily="34" charset="-122"/>
                <a:cs typeface="Syne ExtraBold" pitchFamily="34" charset="-120"/>
              </a:rPr>
              <a:t>Le Générateur de Portail</a:t>
            </a:r>
            <a:endParaRPr lang="en-US" sz="37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924076"/>
            <a:ext cx="378014" cy="378023"/>
          </a:xfrm>
          <a:prstGeom prst="rect">
            <a:avLst/>
          </a:prstGeom>
        </p:spPr>
      </p:pic>
      <p:sp>
        <p:nvSpPr>
          <p:cNvPr id="7" name="Text 3"/>
          <p:cNvSpPr/>
          <p:nvPr/>
        </p:nvSpPr>
        <p:spPr>
          <a:xfrm>
            <a:off x="1275723" y="2988965"/>
            <a:ext cx="5682612" cy="295275"/>
          </a:xfrm>
          <a:prstGeom prst="rect">
            <a:avLst/>
          </a:prstGeom>
          <a:noFill/>
          <a:ln/>
        </p:spPr>
        <p:txBody>
          <a:bodyPr wrap="none" lIns="0" tIns="0" rIns="0" bIns="0" rtlCol="0" anchor="t"/>
          <a:lstStyle/>
          <a:p>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Accès instantané</a:t>
            </a:r>
            <a:endParaRPr lang="en-US" sz="1850" dirty="0"/>
          </a:p>
        </p:txBody>
      </p:sp>
      <p:sp>
        <p:nvSpPr>
          <p:cNvPr id="8" name="Text 4"/>
          <p:cNvSpPr/>
          <p:nvPr/>
        </p:nvSpPr>
        <p:spPr>
          <a:xfrm>
            <a:off x="1275723" y="3397647"/>
            <a:ext cx="5682612"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Ouvrez un portail vers n'importe quelle dimension habitable en une fraction de seconde. Idéal pour les fuites précipitées ou le tourisme intersidéral improvisé.</a:t>
            </a:r>
            <a:endParaRPr lang="en-US" sz="14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4682927"/>
            <a:ext cx="378014" cy="378023"/>
          </a:xfrm>
          <a:prstGeom prst="rect">
            <a:avLst/>
          </a:prstGeom>
        </p:spPr>
      </p:pic>
      <p:sp>
        <p:nvSpPr>
          <p:cNvPr id="10" name="Text 5"/>
          <p:cNvSpPr/>
          <p:nvPr/>
        </p:nvSpPr>
        <p:spPr>
          <a:xfrm>
            <a:off x="1275723" y="4747816"/>
            <a:ext cx="5682612" cy="295275"/>
          </a:xfrm>
          <a:prstGeom prst="rect">
            <a:avLst/>
          </a:prstGeom>
          <a:noFill/>
          <a:ln/>
        </p:spPr>
        <p:txBody>
          <a:bodyPr wrap="none" lIns="0" tIns="0" rIns="0" bIns="0" rtlCol="0" anchor="t"/>
          <a:lstStyle/>
          <a:p>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Sécurité maximale</a:t>
            </a:r>
            <a:endParaRPr lang="en-US" sz="1850" dirty="0"/>
          </a:p>
        </p:txBody>
      </p:sp>
      <p:sp>
        <p:nvSpPr>
          <p:cNvPr id="11" name="Text 6"/>
          <p:cNvSpPr/>
          <p:nvPr/>
        </p:nvSpPr>
        <p:spPr>
          <a:xfrm>
            <a:off x="1275723" y="5156498"/>
            <a:ext cx="5682612"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Le risque de fusion moléculaire a été réduit à </a:t>
            </a:r>
            <a:pPr algn="l" indent="0" marL="0">
              <a:lnSpc>
                <a:spcPct val="133000"/>
              </a:lnSpc>
              <a:buNone/>
            </a:pPr>
            <a:r>
              <a:rPr lang="en-US" sz="1450" b="1" dirty="0">
                <a:solidFill>
                  <a:srgbClr val="D7E5D8"/>
                </a:solidFill>
                <a:latin typeface="Syne Bold" pitchFamily="34" charset="0"/>
                <a:ea typeface="Syne Bold" pitchFamily="34" charset="-122"/>
                <a:cs typeface="Syne Bold" pitchFamily="34" charset="-120"/>
              </a:rPr>
              <a:t>0,0001%</a:t>
            </a:r>
            <a:pPr algn="l" indent="0" marL="0">
              <a:lnSpc>
                <a:spcPct val="133000"/>
              </a:lnSpc>
              <a:buNone/>
            </a:pPr>
            <a:r>
              <a:rPr lang="en-US" sz="1450" dirty="0">
                <a:solidFill>
                  <a:srgbClr val="D7E5D8"/>
                </a:solidFill>
                <a:latin typeface="Syne" pitchFamily="34" charset="0"/>
                <a:ea typeface="Syne" pitchFamily="34" charset="-122"/>
                <a:cs typeface="Syne" pitchFamily="34" charset="-120"/>
              </a:rPr>
              <a:t>. C'est presque sûr. Enfin, presque.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762000"/>
            <a:ext cx="1669413" cy="287139"/>
          </a:xfrm>
          <a:prstGeom prst="roundRect">
            <a:avLst>
              <a:gd name="adj" fmla="val 22118"/>
            </a:avLst>
          </a:prstGeom>
          <a:solidFill>
            <a:srgbClr val="334805"/>
          </a:solidFill>
          <a:ln/>
        </p:spPr>
      </p:sp>
      <p:sp>
        <p:nvSpPr>
          <p:cNvPr id="3" name="Text 1"/>
          <p:cNvSpPr/>
          <p:nvPr/>
        </p:nvSpPr>
        <p:spPr>
          <a:xfrm>
            <a:off x="774879" y="818654"/>
            <a:ext cx="2052189" cy="173831"/>
          </a:xfrm>
          <a:prstGeom prst="rect">
            <a:avLst/>
          </a:prstGeom>
          <a:noFill/>
          <a:ln/>
        </p:spPr>
        <p:txBody>
          <a:bodyPr wrap="none" lIns="0" tIns="0" rIns="0" bIns="0" rtlCol="0" anchor="t"/>
          <a:lstStyle/>
          <a:p>
            <a:pPr algn="l" indent="0" marL="0">
              <a:lnSpc>
                <a:spcPct val="96000"/>
              </a:lnSpc>
              <a:buNone/>
            </a:pPr>
            <a:r>
              <a:rPr lang="en-US" sz="1150" dirty="0">
                <a:solidFill>
                  <a:srgbClr val="D7E5D8"/>
                </a:solidFill>
                <a:latin typeface="Syne" pitchFamily="34" charset="0"/>
                <a:ea typeface="Syne" pitchFamily="34" charset="-122"/>
                <a:cs typeface="Syne" pitchFamily="34" charset="-120"/>
              </a:rPr>
              <a:t>FONCTIONNALITÉ 02</a:t>
            </a:r>
            <a:endParaRPr lang="en-US" sz="1150" dirty="0"/>
          </a:p>
        </p:txBody>
      </p:sp>
      <p:sp>
        <p:nvSpPr>
          <p:cNvPr id="4" name="Text 2"/>
          <p:cNvSpPr/>
          <p:nvPr/>
        </p:nvSpPr>
        <p:spPr>
          <a:xfrm>
            <a:off x="661475" y="1124744"/>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F0F4F1"/>
                </a:solidFill>
                <a:latin typeface="Syne ExtraBold" pitchFamily="34" charset="0"/>
                <a:ea typeface="Syne ExtraBold" pitchFamily="34" charset="-122"/>
                <a:cs typeface="Syne ExtraBold" pitchFamily="34" charset="-120"/>
              </a:rPr>
              <a:t>Champ Anti-Gravité</a:t>
            </a:r>
            <a:endParaRPr lang="en-US" sz="3700" dirty="0"/>
          </a:p>
        </p:txBody>
      </p:sp>
      <p:sp>
        <p:nvSpPr>
          <p:cNvPr id="5" name="Text 3"/>
          <p:cNvSpPr/>
          <p:nvPr/>
        </p:nvSpPr>
        <p:spPr>
          <a:xfrm>
            <a:off x="661475" y="3085703"/>
            <a:ext cx="350421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Manipulez la gravité locale selon vos besoins. Portez des objets lourds sans effort, marchez au plafond pendant une gueule de bois interdimensionnelle, ou désactivez la chute libre de vos ennemis en un simple geste du poignet.</a:t>
            </a:r>
            <a:endParaRPr lang="en-US" sz="1450" dirty="0"/>
          </a:p>
        </p:txBody>
      </p:sp>
      <p:pic>
        <p:nvPicPr>
          <p:cNvPr id="6" name="Image 0" descr="preencoded.png">    </p:cNvPr>
          <p:cNvPicPr>
            <a:picLocks noChangeAspect="1"/>
          </p:cNvPicPr>
          <p:nvPr/>
        </p:nvPicPr>
        <p:blipFill>
          <a:blip r:embed="rId1"/>
          <a:stretch>
            <a:fillRect/>
          </a:stretch>
        </p:blipFill>
        <p:spPr>
          <a:xfrm>
            <a:off x="4633201" y="853877"/>
            <a:ext cx="6903269" cy="3911898"/>
          </a:xfrm>
          <a:prstGeom prst="rect">
            <a:avLst/>
          </a:prstGeom>
        </p:spPr>
      </p:pic>
      <p:sp>
        <p:nvSpPr>
          <p:cNvPr id="7" name="Shape 4"/>
          <p:cNvSpPr/>
          <p:nvPr/>
        </p:nvSpPr>
        <p:spPr>
          <a:xfrm>
            <a:off x="661475" y="5282902"/>
            <a:ext cx="3496877" cy="1025723"/>
          </a:xfrm>
          <a:prstGeom prst="roundRect">
            <a:avLst>
              <a:gd name="adj" fmla="val 7740"/>
            </a:avLst>
          </a:prstGeom>
          <a:solidFill>
            <a:srgbClr val="152025">
              <a:alpha val="95000"/>
            </a:srgbClr>
          </a:solidFill>
          <a:ln w="25399">
            <a:solidFill>
              <a:srgbClr val="6D9121"/>
            </a:solidFill>
            <a:prstDash val="solid"/>
          </a:ln>
        </p:spPr>
      </p:sp>
      <p:sp>
        <p:nvSpPr>
          <p:cNvPr id="8" name="Text 5"/>
          <p:cNvSpPr/>
          <p:nvPr/>
        </p:nvSpPr>
        <p:spPr>
          <a:xfrm>
            <a:off x="875881" y="5497314"/>
            <a:ext cx="3068065" cy="59690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 Lévitation d'objets</a:t>
            </a:r>
            <a:endParaRPr lang="en-US" sz="1850" dirty="0"/>
          </a:p>
        </p:txBody>
      </p:sp>
      <p:sp>
        <p:nvSpPr>
          <p:cNvPr id="9" name="Shape 6"/>
          <p:cNvSpPr/>
          <p:nvPr/>
        </p:nvSpPr>
        <p:spPr>
          <a:xfrm>
            <a:off x="4347359" y="5282902"/>
            <a:ext cx="3496877" cy="1025723"/>
          </a:xfrm>
          <a:prstGeom prst="roundRect">
            <a:avLst>
              <a:gd name="adj" fmla="val 7740"/>
            </a:avLst>
          </a:prstGeom>
          <a:solidFill>
            <a:srgbClr val="152025">
              <a:alpha val="95000"/>
            </a:srgbClr>
          </a:solidFill>
          <a:ln w="25399">
            <a:solidFill>
              <a:srgbClr val="6D9121"/>
            </a:solidFill>
            <a:prstDash val="solid"/>
          </a:ln>
        </p:spPr>
      </p:sp>
      <p:sp>
        <p:nvSpPr>
          <p:cNvPr id="10" name="Text 7"/>
          <p:cNvSpPr/>
          <p:nvPr/>
        </p:nvSpPr>
        <p:spPr>
          <a:xfrm>
            <a:off x="4561766" y="5497314"/>
            <a:ext cx="3068065" cy="59690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 Marche au plafond</a:t>
            </a:r>
            <a:endParaRPr lang="en-US" sz="1850" dirty="0"/>
          </a:p>
        </p:txBody>
      </p:sp>
      <p:sp>
        <p:nvSpPr>
          <p:cNvPr id="11" name="Shape 8"/>
          <p:cNvSpPr/>
          <p:nvPr/>
        </p:nvSpPr>
        <p:spPr>
          <a:xfrm>
            <a:off x="8033244" y="5282902"/>
            <a:ext cx="3496877" cy="1025723"/>
          </a:xfrm>
          <a:prstGeom prst="roundRect">
            <a:avLst>
              <a:gd name="adj" fmla="val 7740"/>
            </a:avLst>
          </a:prstGeom>
          <a:solidFill>
            <a:srgbClr val="152025">
              <a:alpha val="95000"/>
            </a:srgbClr>
          </a:solidFill>
          <a:ln w="25399">
            <a:solidFill>
              <a:srgbClr val="6D9121"/>
            </a:solidFill>
            <a:prstDash val="solid"/>
          </a:ln>
        </p:spPr>
      </p:sp>
      <p:sp>
        <p:nvSpPr>
          <p:cNvPr id="12" name="Text 9"/>
          <p:cNvSpPr/>
          <p:nvPr/>
        </p:nvSpPr>
        <p:spPr>
          <a:xfrm>
            <a:off x="8247650" y="5497314"/>
            <a:ext cx="3068065" cy="59690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 Neutralisation ennemie</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233360" y="538063"/>
            <a:ext cx="1617126" cy="278110"/>
          </a:xfrm>
          <a:prstGeom prst="roundRect">
            <a:avLst>
              <a:gd name="adj" fmla="val 22123"/>
            </a:avLst>
          </a:prstGeom>
          <a:solidFill>
            <a:srgbClr val="334805"/>
          </a:solidFill>
          <a:ln/>
        </p:spPr>
      </p:sp>
      <p:sp>
        <p:nvSpPr>
          <p:cNvPr id="4" name="Text 1"/>
          <p:cNvSpPr/>
          <p:nvPr/>
        </p:nvSpPr>
        <p:spPr>
          <a:xfrm>
            <a:off x="5343193" y="592931"/>
            <a:ext cx="2007046" cy="168374"/>
          </a:xfrm>
          <a:prstGeom prst="rect">
            <a:avLst/>
          </a:prstGeom>
          <a:noFill/>
          <a:ln/>
        </p:spPr>
        <p:txBody>
          <a:bodyPr wrap="none" lIns="0" tIns="0" rIns="0" bIns="0" rtlCol="0" anchor="t"/>
          <a:lstStyle/>
          <a:p>
            <a:pPr algn="l" indent="0" marL="0">
              <a:lnSpc>
                <a:spcPct val="96000"/>
              </a:lnSpc>
              <a:buNone/>
            </a:pPr>
            <a:r>
              <a:rPr lang="en-US" sz="1150" dirty="0">
                <a:solidFill>
                  <a:srgbClr val="D7E5D8"/>
                </a:solidFill>
                <a:latin typeface="Syne" pitchFamily="34" charset="0"/>
                <a:ea typeface="Syne" pitchFamily="34" charset="-122"/>
                <a:cs typeface="Syne" pitchFamily="34" charset="-120"/>
              </a:rPr>
              <a:t>FONCTIONNALITÉ 03</a:t>
            </a:r>
            <a:endParaRPr lang="en-US" sz="1150" dirty="0"/>
          </a:p>
        </p:txBody>
      </p:sp>
      <p:sp>
        <p:nvSpPr>
          <p:cNvPr id="5" name="Text 2"/>
          <p:cNvSpPr/>
          <p:nvPr/>
        </p:nvSpPr>
        <p:spPr>
          <a:xfrm>
            <a:off x="5233360" y="88711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dirty="0">
                <a:solidFill>
                  <a:srgbClr val="F0F4F1"/>
                </a:solidFill>
                <a:latin typeface="Syne ExtraBold" pitchFamily="34" charset="0"/>
                <a:ea typeface="Syne ExtraBold" pitchFamily="34" charset="-122"/>
                <a:cs typeface="Syne ExtraBold" pitchFamily="34" charset="-120"/>
              </a:rPr>
              <a:t>Lazer Désintégrateur</a:t>
            </a:r>
            <a:endParaRPr lang="en-US" sz="3600" dirty="0"/>
          </a:p>
        </p:txBody>
      </p:sp>
      <p:sp>
        <p:nvSpPr>
          <p:cNvPr id="6" name="Shape 3"/>
          <p:cNvSpPr/>
          <p:nvPr/>
        </p:nvSpPr>
        <p:spPr>
          <a:xfrm>
            <a:off x="5233360" y="2297509"/>
            <a:ext cx="3059730" cy="2497038"/>
          </a:xfrm>
          <a:prstGeom prst="roundRect">
            <a:avLst>
              <a:gd name="adj" fmla="val 3080"/>
            </a:avLst>
          </a:prstGeom>
          <a:solidFill>
            <a:srgbClr val="547808"/>
          </a:solidFill>
          <a:ln w="6350">
            <a:solidFill>
              <a:srgbClr val="6D9121"/>
            </a:solidFill>
            <a:prstDash val="solid"/>
          </a:ln>
        </p:spPr>
      </p:sp>
      <p:sp>
        <p:nvSpPr>
          <p:cNvPr id="7" name="Text 4"/>
          <p:cNvSpPr/>
          <p:nvPr/>
        </p:nvSpPr>
        <p:spPr>
          <a:xfrm>
            <a:off x="5422764" y="2486918"/>
            <a:ext cx="2680923" cy="572095"/>
          </a:xfrm>
          <a:prstGeom prst="rect">
            <a:avLst/>
          </a:prstGeom>
          <a:noFill/>
          <a:ln/>
        </p:spPr>
        <p:txBody>
          <a:bodyPr wrap="square" lIns="0" tIns="0" rIns="0" bIns="0" rtlCol="0" anchor="t">
            <a:normAutofit/>
          </a:bodyPr>
          <a:lstStyle/>
          <a:p>
            <a:pPr algn="l" indent="0" marL="0">
              <a:lnSpc>
                <a:spcPct val="104000"/>
              </a:lnSpc>
              <a:buNone/>
            </a:pPr>
            <a:r>
              <a:rPr lang="en-US" sz="18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00" dirty="0">
                <a:solidFill>
                  <a:srgbClr val="FFFFFF"/>
                </a:solidFill>
                <a:latin typeface="Syne ExtraBold" pitchFamily="34" charset="0"/>
                <a:ea typeface="Syne ExtraBold" pitchFamily="34" charset="-122"/>
                <a:cs typeface="Syne ExtraBold" pitchFamily="34" charset="-120"/>
              </a:rPr>
              <a:t> Puissance ajustable</a:t>
            </a:r>
            <a:endParaRPr lang="en-US" sz="1800" dirty="0"/>
          </a:p>
        </p:txBody>
      </p:sp>
      <p:sp>
        <p:nvSpPr>
          <p:cNvPr id="8" name="Text 5"/>
          <p:cNvSpPr/>
          <p:nvPr/>
        </p:nvSpPr>
        <p:spPr>
          <a:xfrm>
            <a:off x="5422764" y="3165376"/>
            <a:ext cx="2680923" cy="865287"/>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FFFFFF"/>
                </a:solidFill>
                <a:latin typeface="Syne" pitchFamily="34" charset="0"/>
                <a:ea typeface="Syne" pitchFamily="34" charset="-122"/>
                <a:cs typeface="Syne" pitchFamily="34" charset="-120"/>
              </a:rPr>
              <a:t>Du niveau </a:t>
            </a:r>
            <a:pPr algn="l" indent="0" marL="0">
              <a:lnSpc>
                <a:spcPct val="131000"/>
              </a:lnSpc>
              <a:buNone/>
            </a:pPr>
            <a:r>
              <a:rPr lang="en-US" sz="1400" i="1" dirty="0">
                <a:solidFill>
                  <a:srgbClr val="FFFFFF"/>
                </a:solidFill>
                <a:latin typeface="Syne" pitchFamily="34" charset="0"/>
                <a:ea typeface="Syne" pitchFamily="34" charset="-122"/>
                <a:cs typeface="Syne" pitchFamily="34" charset="-120"/>
              </a:rPr>
              <a:t>"chatouillis"</a:t>
            </a:r>
            <a:pPr algn="l" indent="0" marL="0">
              <a:lnSpc>
                <a:spcPct val="131000"/>
              </a:lnSpc>
              <a:buNone/>
            </a:pPr>
            <a:r>
              <a:rPr lang="en-US" sz="1400" dirty="0">
                <a:solidFill>
                  <a:srgbClr val="FFFFFF"/>
                </a:solidFill>
                <a:latin typeface="Syne" pitchFamily="34" charset="0"/>
                <a:ea typeface="Syne" pitchFamily="34" charset="-122"/>
                <a:cs typeface="Syne" pitchFamily="34" charset="-120"/>
              </a:rPr>
              <a:t> au </a:t>
            </a:r>
            <a:pPr algn="l" indent="0" marL="0">
              <a:lnSpc>
                <a:spcPct val="131000"/>
              </a:lnSpc>
              <a:buNone/>
            </a:pPr>
            <a:r>
              <a:rPr lang="en-US" sz="1400" i="1" dirty="0">
                <a:solidFill>
                  <a:srgbClr val="FFFFFF"/>
                </a:solidFill>
                <a:latin typeface="Syne" pitchFamily="34" charset="0"/>
                <a:ea typeface="Syne" pitchFamily="34" charset="-122"/>
                <a:cs typeface="Syne" pitchFamily="34" charset="-120"/>
              </a:rPr>
              <a:t>"néant absolu"</a:t>
            </a:r>
            <a:pPr algn="l" indent="0" marL="0">
              <a:lnSpc>
                <a:spcPct val="131000"/>
              </a:lnSpc>
              <a:buNone/>
            </a:pPr>
            <a:r>
              <a:rPr lang="en-US" sz="1400" dirty="0">
                <a:solidFill>
                  <a:srgbClr val="FFFFFF"/>
                </a:solidFill>
                <a:latin typeface="Syne" pitchFamily="34" charset="0"/>
                <a:ea typeface="Syne" pitchFamily="34" charset="-122"/>
                <a:cs typeface="Syne" pitchFamily="34" charset="-120"/>
              </a:rPr>
              <a:t>. Vous choisissez le niveau de destruction.</a:t>
            </a:r>
            <a:endParaRPr lang="en-US" sz="1400" dirty="0"/>
          </a:p>
        </p:txBody>
      </p:sp>
      <p:sp>
        <p:nvSpPr>
          <p:cNvPr id="9" name="Shape 6"/>
          <p:cNvSpPr/>
          <p:nvPr/>
        </p:nvSpPr>
        <p:spPr>
          <a:xfrm>
            <a:off x="8470390" y="2297509"/>
            <a:ext cx="3059830" cy="2497038"/>
          </a:xfrm>
          <a:prstGeom prst="roundRect">
            <a:avLst>
              <a:gd name="adj" fmla="val 3080"/>
            </a:avLst>
          </a:prstGeom>
          <a:solidFill>
            <a:srgbClr val="547808"/>
          </a:solidFill>
          <a:ln w="6350">
            <a:solidFill>
              <a:srgbClr val="6D9121"/>
            </a:solidFill>
            <a:prstDash val="solid"/>
          </a:ln>
        </p:spPr>
      </p:sp>
      <p:sp>
        <p:nvSpPr>
          <p:cNvPr id="10" name="Text 7"/>
          <p:cNvSpPr/>
          <p:nvPr/>
        </p:nvSpPr>
        <p:spPr>
          <a:xfrm>
            <a:off x="8659794" y="2486918"/>
            <a:ext cx="2681022" cy="858143"/>
          </a:xfrm>
          <a:prstGeom prst="rect">
            <a:avLst/>
          </a:prstGeom>
          <a:noFill/>
          <a:ln/>
        </p:spPr>
        <p:txBody>
          <a:bodyPr wrap="square" lIns="0" tIns="0" rIns="0" bIns="0" rtlCol="0" anchor="t">
            <a:normAutofit/>
          </a:bodyPr>
          <a:lstStyle/>
          <a:p>
            <a:pPr algn="l" indent="0" marL="0">
              <a:lnSpc>
                <a:spcPct val="104000"/>
              </a:lnSpc>
              <a:buNone/>
            </a:pPr>
            <a:r>
              <a:rPr lang="en-US" sz="18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00" dirty="0">
                <a:solidFill>
                  <a:srgbClr val="FFFFFF"/>
                </a:solidFill>
                <a:latin typeface="Syne ExtraBold" pitchFamily="34" charset="0"/>
                <a:ea typeface="Syne ExtraBold" pitchFamily="34" charset="-122"/>
                <a:cs typeface="Syne ExtraBold" pitchFamily="34" charset="-120"/>
              </a:rPr>
              <a:t> Refroidissement cryo</a:t>
            </a:r>
            <a:endParaRPr lang="en-US" sz="1800" dirty="0"/>
          </a:p>
        </p:txBody>
      </p:sp>
      <p:sp>
        <p:nvSpPr>
          <p:cNvPr id="11" name="Text 8"/>
          <p:cNvSpPr/>
          <p:nvPr/>
        </p:nvSpPr>
        <p:spPr>
          <a:xfrm>
            <a:off x="8659794" y="3451423"/>
            <a:ext cx="2681022" cy="1153716"/>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FFFFFF"/>
                </a:solidFill>
                <a:latin typeface="Syne" pitchFamily="34" charset="0"/>
                <a:ea typeface="Syne" pitchFamily="34" charset="-122"/>
                <a:cs typeface="Syne" pitchFamily="34" charset="-120"/>
              </a:rPr>
              <a:t>Système de refroidissement cryogénique intégré. Zéro surchauffe, même après usage intensif.</a:t>
            </a:r>
            <a:endParaRPr lang="en-US" sz="1400" dirty="0"/>
          </a:p>
        </p:txBody>
      </p:sp>
      <p:sp>
        <p:nvSpPr>
          <p:cNvPr id="12" name="Shape 9"/>
          <p:cNvSpPr/>
          <p:nvPr/>
        </p:nvSpPr>
        <p:spPr>
          <a:xfrm>
            <a:off x="5233360" y="4971852"/>
            <a:ext cx="6296860" cy="1348085"/>
          </a:xfrm>
          <a:prstGeom prst="roundRect">
            <a:avLst>
              <a:gd name="adj" fmla="val 5705"/>
            </a:avLst>
          </a:prstGeom>
          <a:solidFill>
            <a:srgbClr val="547808"/>
          </a:solidFill>
          <a:ln w="6350">
            <a:solidFill>
              <a:srgbClr val="6D9121"/>
            </a:solidFill>
            <a:prstDash val="solid"/>
          </a:ln>
        </p:spPr>
      </p:sp>
      <p:sp>
        <p:nvSpPr>
          <p:cNvPr id="13" name="Text 10"/>
          <p:cNvSpPr/>
          <p:nvPr/>
        </p:nvSpPr>
        <p:spPr>
          <a:xfrm>
            <a:off x="5422764" y="5161260"/>
            <a:ext cx="5918052" cy="286048"/>
          </a:xfrm>
          <a:prstGeom prst="rect">
            <a:avLst/>
          </a:prstGeom>
          <a:noFill/>
          <a:ln/>
        </p:spPr>
        <p:txBody>
          <a:bodyPr wrap="none" lIns="0" tIns="0" rIns="0" bIns="0" rtlCol="0" anchor="t"/>
          <a:lstStyle/>
          <a:p>
            <a:pPr algn="l" indent="0" marL="0">
              <a:lnSpc>
                <a:spcPct val="104000"/>
              </a:lnSpc>
              <a:buNone/>
            </a:pPr>
            <a:r>
              <a:rPr lang="en-US" sz="180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800" dirty="0">
                <a:solidFill>
                  <a:srgbClr val="FFFFFF"/>
                </a:solidFill>
                <a:latin typeface="Syne ExtraBold" pitchFamily="34" charset="0"/>
                <a:ea typeface="Syne ExtraBold" pitchFamily="34" charset="-122"/>
                <a:cs typeface="Syne ExtraBold" pitchFamily="34" charset="-120"/>
              </a:rPr>
              <a:t> Usage polyvalent</a:t>
            </a:r>
            <a:endParaRPr lang="en-US" sz="1800" dirty="0"/>
          </a:p>
        </p:txBody>
      </p:sp>
      <p:sp>
        <p:nvSpPr>
          <p:cNvPr id="14" name="Text 11"/>
          <p:cNvSpPr/>
          <p:nvPr/>
        </p:nvSpPr>
        <p:spPr>
          <a:xfrm>
            <a:off x="5422764" y="5553670"/>
            <a:ext cx="5918052"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FFFFFF"/>
                </a:solidFill>
                <a:latin typeface="Syne" pitchFamily="34" charset="0"/>
                <a:ea typeface="Syne" pitchFamily="34" charset="-122"/>
                <a:cs typeface="Syne" pitchFamily="34" charset="-120"/>
              </a:rPr>
              <a:t>Parfait pour gérer les disputes de voisinage galactique ou les envahisseurs trop insistants.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99778"/>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0F4F1"/>
                </a:solidFill>
                <a:latin typeface="Syne ExtraBold" pitchFamily="34" charset="0"/>
                <a:ea typeface="Syne ExtraBold" pitchFamily="34" charset="-122"/>
                <a:cs typeface="Syne ExtraBold" pitchFamily="34" charset="-120"/>
              </a:rPr>
              <a:t>Pourquoi choisir </a:t>
            </a:r>
            <a:pPr algn="l" indent="0" marL="0">
              <a:lnSpc>
                <a:spcPct val="104000"/>
              </a:lnSpc>
              <a:buNone/>
            </a:pPr>
            <a:r>
              <a:rPr lang="en-US" sz="3700" dirty="0">
                <a:solidFill>
                  <a:srgbClr val="A95B95"/>
                </a:solidFill>
                <a:latin typeface="Syne ExtraBold" pitchFamily="34" charset="0"/>
                <a:ea typeface="Syne ExtraBold" pitchFamily="34" charset="-122"/>
                <a:cs typeface="Syne ExtraBold" pitchFamily="34" charset="-120"/>
              </a:rPr>
              <a:t>armsPGL</a:t>
            </a:r>
            <a:pPr algn="l" indent="0" marL="0">
              <a:lnSpc>
                <a:spcPct val="104000"/>
              </a:lnSpc>
              <a:buNone/>
            </a:pPr>
            <a:r>
              <a:rPr lang="en-US" sz="3700" dirty="0">
                <a:solidFill>
                  <a:srgbClr val="F0F4F1"/>
                </a:solidFill>
                <a:latin typeface="Syne ExtraBold" pitchFamily="34" charset="0"/>
                <a:ea typeface="Syne ExtraBold" pitchFamily="34" charset="-122"/>
                <a:cs typeface="Syne ExtraBold" pitchFamily="34" charset="-120"/>
              </a:rPr>
              <a:t> ?</a:t>
            </a:r>
            <a:endParaRPr lang="en-US" sz="3700" dirty="0"/>
          </a:p>
        </p:txBody>
      </p:sp>
      <p:pic>
        <p:nvPicPr>
          <p:cNvPr id="3" name="Image 0" descr="preencoded.png">    </p:cNvPr>
          <p:cNvPicPr>
            <a:picLocks noChangeAspect="1"/>
          </p:cNvPicPr>
          <p:nvPr/>
        </p:nvPicPr>
        <p:blipFill>
          <a:blip r:embed="rId1"/>
          <a:stretch>
            <a:fillRect/>
          </a:stretch>
        </p:blipFill>
        <p:spPr>
          <a:xfrm>
            <a:off x="661475" y="2368451"/>
            <a:ext cx="2009923" cy="1242219"/>
          </a:xfrm>
          <a:prstGeom prst="rect">
            <a:avLst/>
          </a:prstGeom>
        </p:spPr>
      </p:pic>
      <p:sp>
        <p:nvSpPr>
          <p:cNvPr id="4" name="Text 1"/>
          <p:cNvSpPr/>
          <p:nvPr/>
        </p:nvSpPr>
        <p:spPr>
          <a:xfrm>
            <a:off x="661475" y="3846909"/>
            <a:ext cx="3465426"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Un seul membre, tout en un</a:t>
            </a:r>
            <a:endParaRPr lang="en-US" sz="1850" dirty="0"/>
          </a:p>
        </p:txBody>
      </p:sp>
      <p:sp>
        <p:nvSpPr>
          <p:cNvPr id="5" name="Text 2"/>
          <p:cNvSpPr/>
          <p:nvPr/>
        </p:nvSpPr>
        <p:spPr>
          <a:xfrm>
            <a:off x="661475" y="4550866"/>
            <a:ext cx="3465426"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Remplacez trois gadgets encombrants par un seul bras cybernétique. Fini le sac à dos interdimensionnel.</a:t>
            </a:r>
            <a:endParaRPr lang="en-US" sz="1450" dirty="0"/>
          </a:p>
        </p:txBody>
      </p:sp>
      <p:pic>
        <p:nvPicPr>
          <p:cNvPr id="6" name="Image 1" descr="preencoded.png">    </p:cNvPr>
          <p:cNvPicPr>
            <a:picLocks noChangeAspect="1"/>
          </p:cNvPicPr>
          <p:nvPr/>
        </p:nvPicPr>
        <p:blipFill>
          <a:blip r:embed="rId2"/>
          <a:stretch>
            <a:fillRect/>
          </a:stretch>
        </p:blipFill>
        <p:spPr>
          <a:xfrm>
            <a:off x="4363135" y="2368451"/>
            <a:ext cx="2009923" cy="1242219"/>
          </a:xfrm>
          <a:prstGeom prst="rect">
            <a:avLst/>
          </a:prstGeom>
        </p:spPr>
      </p:pic>
      <p:sp>
        <p:nvSpPr>
          <p:cNvPr id="7" name="Text 3"/>
          <p:cNvSpPr/>
          <p:nvPr/>
        </p:nvSpPr>
        <p:spPr>
          <a:xfrm>
            <a:off x="4363135" y="3846909"/>
            <a:ext cx="3465426"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Durabilité éprouvée</a:t>
            </a:r>
            <a:endParaRPr lang="en-US" sz="1850" dirty="0"/>
          </a:p>
        </p:txBody>
      </p:sp>
      <p:sp>
        <p:nvSpPr>
          <p:cNvPr id="8" name="Text 4"/>
          <p:cNvSpPr/>
          <p:nvPr/>
        </p:nvSpPr>
        <p:spPr>
          <a:xfrm>
            <a:off x="4363135" y="4550866"/>
            <a:ext cx="3465426"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Testé lors d'expéditions dans le secteur Z. Survit aux trous noirs, aux tempêtes quantiques et aux crises existentielles.</a:t>
            </a:r>
            <a:endParaRPr lang="en-US" sz="1450" dirty="0"/>
          </a:p>
        </p:txBody>
      </p:sp>
      <p:pic>
        <p:nvPicPr>
          <p:cNvPr id="9" name="Image 2" descr="preencoded.png">    </p:cNvPr>
          <p:cNvPicPr>
            <a:picLocks noChangeAspect="1"/>
          </p:cNvPicPr>
          <p:nvPr/>
        </p:nvPicPr>
        <p:blipFill>
          <a:blip r:embed="rId3"/>
          <a:stretch>
            <a:fillRect/>
          </a:stretch>
        </p:blipFill>
        <p:spPr>
          <a:xfrm>
            <a:off x="8064794" y="2368451"/>
            <a:ext cx="2009923" cy="1242219"/>
          </a:xfrm>
          <a:prstGeom prst="rect">
            <a:avLst/>
          </a:prstGeom>
        </p:spPr>
      </p:pic>
      <p:sp>
        <p:nvSpPr>
          <p:cNvPr id="10" name="Text 5"/>
          <p:cNvSpPr/>
          <p:nvPr/>
        </p:nvSpPr>
        <p:spPr>
          <a:xfrm>
            <a:off x="8064794" y="3846909"/>
            <a:ext cx="3465426" cy="295275"/>
          </a:xfrm>
          <a:prstGeom prst="rect">
            <a:avLst/>
          </a:prstGeom>
          <a:noFill/>
          <a:ln/>
        </p:spPr>
        <p:txBody>
          <a:bodyPr wrap="none" lIns="0" tIns="0" rIns="0" bIns="0" rtlCol="0" anchor="t"/>
          <a:lstStyle/>
          <a:p>
            <a:pPr algn="l" indent="0" marL="0">
              <a:lnSpc>
                <a:spcPct val="104000"/>
              </a:lnSpc>
              <a:buNone/>
            </a:pPr>
            <a:r>
              <a:rPr lang="en-US" sz="1850" dirty="0">
                <a:solidFill>
                  <a:srgbClr val="D7E5D8"/>
                </a:solidFill>
                <a:latin typeface="Syne ExtraBold" pitchFamily="34" charset="0"/>
                <a:ea typeface="Syne ExtraBold" pitchFamily="34" charset="-122"/>
                <a:cs typeface="Syne ExtraBold" pitchFamily="34" charset="-120"/>
              </a:rPr>
              <a:t>Esthétique brute</a:t>
            </a:r>
            <a:endParaRPr lang="en-US" sz="1850" dirty="0"/>
          </a:p>
        </p:txBody>
      </p:sp>
      <p:sp>
        <p:nvSpPr>
          <p:cNvPr id="11" name="Text 6"/>
          <p:cNvSpPr/>
          <p:nvPr/>
        </p:nvSpPr>
        <p:spPr>
          <a:xfrm>
            <a:off x="8064794" y="4255591"/>
            <a:ext cx="3465426"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E5D8"/>
                </a:solidFill>
                <a:latin typeface="Syne" pitchFamily="34" charset="0"/>
                <a:ea typeface="Syne" pitchFamily="34" charset="-122"/>
                <a:cs typeface="Syne" pitchFamily="34" charset="-120"/>
              </a:rPr>
              <a:t>Design industriel brutal et sophistiqué. Parce que dominer le multivers, ça se fait avec style.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78161"/>
            <a:ext cx="6936011" cy="3901579"/>
          </a:xfrm>
          <a:prstGeom prst="rect">
            <a:avLst/>
          </a:prstGeom>
        </p:spPr>
      </p:pic>
      <p:sp>
        <p:nvSpPr>
          <p:cNvPr id="3" name="Shape 0"/>
          <p:cNvSpPr/>
          <p:nvPr/>
        </p:nvSpPr>
        <p:spPr>
          <a:xfrm>
            <a:off x="7971333" y="899418"/>
            <a:ext cx="1219269" cy="228898"/>
          </a:xfrm>
          <a:prstGeom prst="roundRect">
            <a:avLst>
              <a:gd name="adj" fmla="val 22110"/>
            </a:avLst>
          </a:prstGeom>
          <a:noFill/>
          <a:ln w="6350">
            <a:solidFill>
              <a:srgbClr val="A9F00F"/>
            </a:solidFill>
            <a:prstDash val="solid"/>
          </a:ln>
        </p:spPr>
      </p:sp>
      <p:sp>
        <p:nvSpPr>
          <p:cNvPr id="4" name="Text 1"/>
          <p:cNvSpPr/>
          <p:nvPr/>
        </p:nvSpPr>
        <p:spPr>
          <a:xfrm>
            <a:off x="8061619" y="944563"/>
            <a:ext cx="1648280" cy="138609"/>
          </a:xfrm>
          <a:prstGeom prst="rect">
            <a:avLst/>
          </a:prstGeom>
          <a:noFill/>
          <a:ln/>
        </p:spPr>
        <p:txBody>
          <a:bodyPr wrap="none" lIns="0" tIns="0" rIns="0" bIns="0" rtlCol="0" anchor="t"/>
          <a:lstStyle/>
          <a:p>
            <a:pPr algn="l" indent="0" marL="0">
              <a:lnSpc>
                <a:spcPct val="96000"/>
              </a:lnSpc>
              <a:buNone/>
            </a:pPr>
            <a:r>
              <a:rPr lang="en-US" sz="900" dirty="0">
                <a:solidFill>
                  <a:srgbClr val="A9F00F"/>
                </a:solidFill>
                <a:latin typeface="Syne" pitchFamily="34" charset="0"/>
                <a:ea typeface="Syne" pitchFamily="34" charset="-122"/>
                <a:cs typeface="Syne" pitchFamily="34" charset="-120"/>
              </a:rPr>
              <a:t>FICHE TECHNIQUE</a:t>
            </a:r>
            <a:endParaRPr lang="en-US" sz="900" dirty="0"/>
          </a:p>
        </p:txBody>
      </p:sp>
      <p:sp>
        <p:nvSpPr>
          <p:cNvPr id="5" name="Text 2"/>
          <p:cNvSpPr/>
          <p:nvPr/>
        </p:nvSpPr>
        <p:spPr>
          <a:xfrm>
            <a:off x="7971333" y="1176238"/>
            <a:ext cx="3565138" cy="1411784"/>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0F4F1"/>
                </a:solidFill>
                <a:latin typeface="Syne ExtraBold" pitchFamily="34" charset="0"/>
                <a:ea typeface="Syne ExtraBold" pitchFamily="34" charset="-122"/>
                <a:cs typeface="Syne ExtraBold" pitchFamily="34" charset="-120"/>
              </a:rPr>
              <a:t>Spécifications Techniques</a:t>
            </a:r>
            <a:endParaRPr lang="en-US" sz="2950" dirty="0"/>
          </a:p>
        </p:txBody>
      </p:sp>
      <p:sp>
        <p:nvSpPr>
          <p:cNvPr id="6" name="Text 3"/>
          <p:cNvSpPr/>
          <p:nvPr/>
        </p:nvSpPr>
        <p:spPr>
          <a:xfrm>
            <a:off x="8430109" y="2774652"/>
            <a:ext cx="3106362" cy="241697"/>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450" dirty="0">
                <a:solidFill>
                  <a:srgbClr val="D7E5D8"/>
                </a:solidFill>
                <a:latin typeface="Syne ExtraBold" pitchFamily="34" charset="0"/>
                <a:ea typeface="Syne ExtraBold" pitchFamily="34" charset="-122"/>
                <a:cs typeface="Syne ExtraBold" pitchFamily="34" charset="-120"/>
              </a:rPr>
              <a:t> Alimentation</a:t>
            </a:r>
            <a:endParaRPr lang="en-US" sz="1450" dirty="0"/>
          </a:p>
        </p:txBody>
      </p:sp>
      <p:sp>
        <p:nvSpPr>
          <p:cNvPr id="7" name="Text 4"/>
          <p:cNvSpPr/>
          <p:nvPr/>
        </p:nvSpPr>
        <p:spPr>
          <a:xfrm>
            <a:off x="8430109" y="3136305"/>
            <a:ext cx="3106362"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D7E5D8"/>
                </a:solidFill>
                <a:latin typeface="Syne" pitchFamily="34" charset="0"/>
                <a:ea typeface="Syne" pitchFamily="34" charset="-122"/>
                <a:cs typeface="Syne" pitchFamily="34" charset="-120"/>
              </a:rPr>
              <a:t>Batterie au cristal pur de la Fédération. Autonomie : illimitée (en théorie).</a:t>
            </a:r>
            <a:endParaRPr lang="en-US" sz="1150" dirty="0"/>
          </a:p>
        </p:txBody>
      </p:sp>
      <p:sp>
        <p:nvSpPr>
          <p:cNvPr id="8" name="Text 5"/>
          <p:cNvSpPr/>
          <p:nvPr/>
        </p:nvSpPr>
        <p:spPr>
          <a:xfrm>
            <a:off x="8430109" y="3860998"/>
            <a:ext cx="3106362" cy="241697"/>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450" dirty="0">
                <a:solidFill>
                  <a:srgbClr val="D7E5D8"/>
                </a:solidFill>
                <a:latin typeface="Syne ExtraBold" pitchFamily="34" charset="0"/>
                <a:ea typeface="Syne ExtraBold" pitchFamily="34" charset="-122"/>
                <a:cs typeface="Syne ExtraBold" pitchFamily="34" charset="-120"/>
              </a:rPr>
              <a:t> Poids</a:t>
            </a:r>
            <a:endParaRPr lang="en-US" sz="1450" dirty="0"/>
          </a:p>
        </p:txBody>
      </p:sp>
      <p:sp>
        <p:nvSpPr>
          <p:cNvPr id="9" name="Text 6"/>
          <p:cNvSpPr/>
          <p:nvPr/>
        </p:nvSpPr>
        <p:spPr>
          <a:xfrm>
            <a:off x="8430109" y="4222651"/>
            <a:ext cx="3106362" cy="432991"/>
          </a:xfrm>
          <a:prstGeom prst="rect">
            <a:avLst/>
          </a:prstGeom>
          <a:noFill/>
          <a:ln/>
        </p:spPr>
        <p:txBody>
          <a:bodyPr wrap="square" lIns="0" tIns="0" rIns="0" bIns="0" rtlCol="0" anchor="t">
            <a:normAutofit/>
          </a:bodyPr>
          <a:lstStyle/>
          <a:p>
            <a:pPr algn="l" indent="0" marL="0">
              <a:lnSpc>
                <a:spcPct val="120000"/>
              </a:lnSpc>
              <a:buNone/>
            </a:pPr>
            <a:r>
              <a:rPr lang="en-US" sz="1150" b="1" dirty="0">
                <a:solidFill>
                  <a:srgbClr val="D7E5D8"/>
                </a:solidFill>
                <a:latin typeface="Syne Bold" pitchFamily="34" charset="0"/>
                <a:ea typeface="Syne Bold" pitchFamily="34" charset="-122"/>
                <a:cs typeface="Syne Bold" pitchFamily="34" charset="-120"/>
              </a:rPr>
              <a:t>2,5 kg</a:t>
            </a:r>
            <a:pPr algn="l" indent="0" marL="0">
              <a:lnSpc>
                <a:spcPct val="120000"/>
              </a:lnSpc>
              <a:buNone/>
            </a:pPr>
            <a:r>
              <a:rPr lang="en-US" sz="1150" dirty="0">
                <a:solidFill>
                  <a:srgbClr val="D7E5D8"/>
                </a:solidFill>
                <a:latin typeface="Syne" pitchFamily="34" charset="0"/>
                <a:ea typeface="Syne" pitchFamily="34" charset="-122"/>
                <a:cs typeface="Syne" pitchFamily="34" charset="-120"/>
              </a:rPr>
              <a:t> — léger pour une telle puissance de destruction.</a:t>
            </a:r>
            <a:endParaRPr lang="en-US" sz="1150" dirty="0"/>
          </a:p>
        </p:txBody>
      </p:sp>
      <p:sp>
        <p:nvSpPr>
          <p:cNvPr id="10" name="Text 7"/>
          <p:cNvSpPr/>
          <p:nvPr/>
        </p:nvSpPr>
        <p:spPr>
          <a:xfrm>
            <a:off x="8430109" y="4947345"/>
            <a:ext cx="3106362" cy="241697"/>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450" dirty="0">
                <a:solidFill>
                  <a:srgbClr val="D7E5D8"/>
                </a:solidFill>
                <a:latin typeface="Syne ExtraBold" pitchFamily="34" charset="0"/>
                <a:ea typeface="Syne ExtraBold" pitchFamily="34" charset="-122"/>
                <a:cs typeface="Syne ExtraBold" pitchFamily="34" charset="-120"/>
              </a:rPr>
              <a:t> Installation</a:t>
            </a:r>
            <a:endParaRPr lang="en-US" sz="1450" dirty="0"/>
          </a:p>
        </p:txBody>
      </p:sp>
      <p:sp>
        <p:nvSpPr>
          <p:cNvPr id="11" name="Text 8"/>
          <p:cNvSpPr/>
          <p:nvPr/>
        </p:nvSpPr>
        <p:spPr>
          <a:xfrm>
            <a:off x="8430109" y="5308997"/>
            <a:ext cx="3106362" cy="649486"/>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D7E5D8"/>
                </a:solidFill>
                <a:latin typeface="Syne" pitchFamily="34" charset="0"/>
                <a:ea typeface="Syne" pitchFamily="34" charset="-122"/>
                <a:cs typeface="Syne" pitchFamily="34" charset="-120"/>
              </a:rPr>
              <a:t>Système de greffe nerveuse simplifiée. Compatible avec 98% des systèmes nerveux connus.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559891"/>
            <a:ext cx="760790" cy="255786"/>
          </a:xfrm>
          <a:prstGeom prst="roundRect">
            <a:avLst>
              <a:gd name="adj" fmla="val 22114"/>
            </a:avLst>
          </a:prstGeom>
          <a:solidFill>
            <a:srgbClr val="334805"/>
          </a:solidFill>
          <a:ln/>
        </p:spPr>
      </p:sp>
      <p:sp>
        <p:nvSpPr>
          <p:cNvPr id="4" name="Text 1"/>
          <p:cNvSpPr/>
          <p:nvPr/>
        </p:nvSpPr>
        <p:spPr>
          <a:xfrm>
            <a:off x="762477" y="610394"/>
            <a:ext cx="1168371" cy="154781"/>
          </a:xfrm>
          <a:prstGeom prst="rect">
            <a:avLst/>
          </a:prstGeom>
          <a:noFill/>
          <a:ln/>
        </p:spPr>
        <p:txBody>
          <a:bodyPr wrap="none" lIns="0" tIns="0" rIns="0" bIns="0" rtlCol="0" anchor="t"/>
          <a:lstStyle/>
          <a:p>
            <a:pPr algn="l" indent="0" marL="0">
              <a:lnSpc>
                <a:spcPct val="96000"/>
              </a:lnSpc>
              <a:buNone/>
            </a:pPr>
            <a:r>
              <a:rPr lang="en-US" sz="1050" dirty="0">
                <a:solidFill>
                  <a:srgbClr val="D7E5D8"/>
                </a:solidFill>
                <a:latin typeface="Syne" pitchFamily="34" charset="0"/>
                <a:ea typeface="Syne" pitchFamily="34" charset="-122"/>
                <a:cs typeface="Syne" pitchFamily="34" charset="-120"/>
              </a:rPr>
              <a:t>MARCHÉ</a:t>
            </a:r>
            <a:endParaRPr lang="en-US" sz="1050" dirty="0"/>
          </a:p>
        </p:txBody>
      </p:sp>
      <p:sp>
        <p:nvSpPr>
          <p:cNvPr id="5" name="Text 2"/>
          <p:cNvSpPr/>
          <p:nvPr/>
        </p:nvSpPr>
        <p:spPr>
          <a:xfrm>
            <a:off x="661475" y="875605"/>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dirty="0">
                <a:solidFill>
                  <a:srgbClr val="F0F4F1"/>
                </a:solidFill>
                <a:latin typeface="Syne ExtraBold" pitchFamily="34" charset="0"/>
                <a:ea typeface="Syne ExtraBold" pitchFamily="34" charset="-122"/>
                <a:cs typeface="Syne ExtraBold" pitchFamily="34" charset="-120"/>
              </a:rPr>
              <a:t>Opportunité de Marché</a:t>
            </a:r>
            <a:endParaRPr lang="en-US" sz="3300" dirty="0"/>
          </a:p>
        </p:txBody>
      </p:sp>
      <p:sp>
        <p:nvSpPr>
          <p:cNvPr id="6" name="Shape 3"/>
          <p:cNvSpPr/>
          <p:nvPr/>
        </p:nvSpPr>
        <p:spPr>
          <a:xfrm>
            <a:off x="661475" y="2152551"/>
            <a:ext cx="3073422" cy="2383929"/>
          </a:xfrm>
          <a:prstGeom prst="roundRect">
            <a:avLst>
              <a:gd name="adj" fmla="val 2966"/>
            </a:avLst>
          </a:prstGeom>
          <a:solidFill>
            <a:srgbClr val="547808"/>
          </a:solidFill>
          <a:ln w="6350">
            <a:solidFill>
              <a:srgbClr val="6D9121"/>
            </a:solidFill>
            <a:prstDash val="solid"/>
          </a:ln>
        </p:spPr>
      </p:sp>
      <p:sp>
        <p:nvSpPr>
          <p:cNvPr id="7" name="Shape 4"/>
          <p:cNvSpPr/>
          <p:nvPr/>
        </p:nvSpPr>
        <p:spPr>
          <a:xfrm>
            <a:off x="836095" y="2327176"/>
            <a:ext cx="505011" cy="505023"/>
          </a:xfrm>
          <a:prstGeom prst="ellipse">
            <a:avLst/>
          </a:prstGeom>
          <a:solidFill>
            <a:srgbClr val="A9F00F"/>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4998" y="2465983"/>
            <a:ext cx="227205" cy="227211"/>
          </a:xfrm>
          <a:prstGeom prst="rect">
            <a:avLst/>
          </a:prstGeom>
        </p:spPr>
      </p:pic>
      <p:sp>
        <p:nvSpPr>
          <p:cNvPr id="9" name="Text 5"/>
          <p:cNvSpPr/>
          <p:nvPr/>
        </p:nvSpPr>
        <p:spPr>
          <a:xfrm>
            <a:off x="836095" y="2982119"/>
            <a:ext cx="2724181" cy="263029"/>
          </a:xfrm>
          <a:prstGeom prst="rect">
            <a:avLst/>
          </a:prstGeom>
          <a:noFill/>
          <a:ln/>
        </p:spPr>
        <p:txBody>
          <a:bodyPr wrap="none" lIns="0" tIns="0" rIns="0" bIns="0" rtlCol="0" anchor="t"/>
          <a:lstStyle/>
          <a:p>
            <a:pPr algn="l" indent="0" marL="0">
              <a:lnSpc>
                <a:spcPct val="104000"/>
              </a:lnSpc>
              <a:buNone/>
            </a:pPr>
            <a:r>
              <a:rPr lang="en-US" sz="1650" dirty="0">
                <a:solidFill>
                  <a:srgbClr val="FFFFFF"/>
                </a:solidFill>
                <a:latin typeface="Syne ExtraBold" pitchFamily="34" charset="0"/>
                <a:ea typeface="Syne ExtraBold" pitchFamily="34" charset="-122"/>
                <a:cs typeface="Syne ExtraBold" pitchFamily="34" charset="-120"/>
              </a:rPr>
              <a:t>Cible principale</a:t>
            </a:r>
            <a:endParaRPr lang="en-US" sz="1650" dirty="0"/>
          </a:p>
        </p:txBody>
      </p:sp>
      <p:sp>
        <p:nvSpPr>
          <p:cNvPr id="10" name="Text 6"/>
          <p:cNvSpPr/>
          <p:nvPr/>
        </p:nvSpPr>
        <p:spPr>
          <a:xfrm>
            <a:off x="836095" y="3335040"/>
            <a:ext cx="2724181" cy="763786"/>
          </a:xfrm>
          <a:prstGeom prst="rect">
            <a:avLst/>
          </a:prstGeom>
          <a:noFill/>
          <a:ln/>
        </p:spPr>
        <p:txBody>
          <a:bodyPr wrap="square" lIns="0" tIns="0" rIns="0" bIns="0" rtlCol="0" anchor="t">
            <a:normAutofit/>
          </a:bodyPr>
          <a:lstStyle/>
          <a:p>
            <a:pPr algn="l" indent="0" marL="0">
              <a:lnSpc>
                <a:spcPct val="126000"/>
              </a:lnSpc>
              <a:buNone/>
            </a:pPr>
            <a:r>
              <a:rPr lang="en-US" sz="1300" dirty="0">
                <a:solidFill>
                  <a:srgbClr val="FFFFFF"/>
                </a:solidFill>
                <a:latin typeface="Syne" pitchFamily="34" charset="0"/>
                <a:ea typeface="Syne" pitchFamily="34" charset="-122"/>
                <a:cs typeface="Syne" pitchFamily="34" charset="-120"/>
              </a:rPr>
              <a:t>Aventuriers, chasseurs de primes et étudiants de l'EPSI cherchant un avantage décisif.</a:t>
            </a:r>
            <a:endParaRPr lang="en-US" sz="1300" dirty="0"/>
          </a:p>
        </p:txBody>
      </p:sp>
      <p:sp>
        <p:nvSpPr>
          <p:cNvPr id="11" name="Shape 7"/>
          <p:cNvSpPr/>
          <p:nvPr/>
        </p:nvSpPr>
        <p:spPr>
          <a:xfrm>
            <a:off x="3884813" y="2152551"/>
            <a:ext cx="3073522" cy="2383929"/>
          </a:xfrm>
          <a:prstGeom prst="roundRect">
            <a:avLst>
              <a:gd name="adj" fmla="val 2966"/>
            </a:avLst>
          </a:prstGeom>
          <a:solidFill>
            <a:srgbClr val="547808"/>
          </a:solidFill>
          <a:ln w="6350">
            <a:solidFill>
              <a:srgbClr val="6D9121"/>
            </a:solidFill>
            <a:prstDash val="solid"/>
          </a:ln>
        </p:spPr>
      </p:sp>
      <p:sp>
        <p:nvSpPr>
          <p:cNvPr id="12" name="Shape 8"/>
          <p:cNvSpPr/>
          <p:nvPr/>
        </p:nvSpPr>
        <p:spPr>
          <a:xfrm>
            <a:off x="4059434" y="2327176"/>
            <a:ext cx="505011" cy="505023"/>
          </a:xfrm>
          <a:prstGeom prst="ellipse">
            <a:avLst/>
          </a:prstGeom>
          <a:solidFill>
            <a:srgbClr val="A9F00F"/>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8336" y="2465983"/>
            <a:ext cx="227205" cy="227211"/>
          </a:xfrm>
          <a:prstGeom prst="rect">
            <a:avLst/>
          </a:prstGeom>
        </p:spPr>
      </p:pic>
      <p:sp>
        <p:nvSpPr>
          <p:cNvPr id="14" name="Text 9"/>
          <p:cNvSpPr/>
          <p:nvPr/>
        </p:nvSpPr>
        <p:spPr>
          <a:xfrm>
            <a:off x="4059434" y="2982119"/>
            <a:ext cx="2724280" cy="526058"/>
          </a:xfrm>
          <a:prstGeom prst="rect">
            <a:avLst/>
          </a:prstGeom>
          <a:noFill/>
          <a:ln/>
        </p:spPr>
        <p:txBody>
          <a:bodyPr wrap="square" lIns="0" tIns="0" rIns="0" bIns="0" rtlCol="0" anchor="t">
            <a:normAutofit/>
          </a:bodyPr>
          <a:lstStyle/>
          <a:p>
            <a:pPr algn="l" indent="0" marL="0">
              <a:lnSpc>
                <a:spcPct val="104000"/>
              </a:lnSpc>
              <a:buNone/>
            </a:pPr>
            <a:r>
              <a:rPr lang="en-US" sz="1650" dirty="0">
                <a:solidFill>
                  <a:srgbClr val="FFFFFF"/>
                </a:solidFill>
                <a:latin typeface="Syne ExtraBold" pitchFamily="34" charset="0"/>
                <a:ea typeface="Syne ExtraBold" pitchFamily="34" charset="-122"/>
                <a:cs typeface="Syne ExtraBold" pitchFamily="34" charset="-120"/>
              </a:rPr>
              <a:t>Marché en expansion</a:t>
            </a:r>
            <a:endParaRPr lang="en-US" sz="1650" dirty="0"/>
          </a:p>
        </p:txBody>
      </p:sp>
      <p:sp>
        <p:nvSpPr>
          <p:cNvPr id="15" name="Text 10"/>
          <p:cNvSpPr/>
          <p:nvPr/>
        </p:nvSpPr>
        <p:spPr>
          <a:xfrm>
            <a:off x="4059434" y="3598069"/>
            <a:ext cx="2724280" cy="763786"/>
          </a:xfrm>
          <a:prstGeom prst="rect">
            <a:avLst/>
          </a:prstGeom>
          <a:noFill/>
          <a:ln/>
        </p:spPr>
        <p:txBody>
          <a:bodyPr wrap="square" lIns="0" tIns="0" rIns="0" bIns="0" rtlCol="0" anchor="t">
            <a:normAutofit/>
          </a:bodyPr>
          <a:lstStyle/>
          <a:p>
            <a:pPr algn="l" indent="0" marL="0">
              <a:lnSpc>
                <a:spcPct val="126000"/>
              </a:lnSpc>
              <a:buNone/>
            </a:pPr>
            <a:r>
              <a:rPr lang="en-US" sz="1300" dirty="0">
                <a:solidFill>
                  <a:srgbClr val="FFFFFF"/>
                </a:solidFill>
                <a:latin typeface="Syne" pitchFamily="34" charset="0"/>
                <a:ea typeface="Syne" pitchFamily="34" charset="-122"/>
                <a:cs typeface="Syne" pitchFamily="34" charset="-120"/>
              </a:rPr>
              <a:t>Demande croissante dans les dimensions 4 à 12. Le marché est vierge — pour l'instant.</a:t>
            </a:r>
            <a:endParaRPr lang="en-US" sz="1300" dirty="0"/>
          </a:p>
        </p:txBody>
      </p:sp>
      <p:sp>
        <p:nvSpPr>
          <p:cNvPr id="16" name="Shape 11"/>
          <p:cNvSpPr/>
          <p:nvPr/>
        </p:nvSpPr>
        <p:spPr>
          <a:xfrm>
            <a:off x="661475" y="4686399"/>
            <a:ext cx="6296860" cy="1611709"/>
          </a:xfrm>
          <a:prstGeom prst="roundRect">
            <a:avLst>
              <a:gd name="adj" fmla="val 4387"/>
            </a:avLst>
          </a:prstGeom>
          <a:solidFill>
            <a:srgbClr val="547808"/>
          </a:solidFill>
          <a:ln w="6350">
            <a:solidFill>
              <a:srgbClr val="6D9121"/>
            </a:solidFill>
            <a:prstDash val="solid"/>
          </a:ln>
        </p:spPr>
      </p:sp>
      <p:sp>
        <p:nvSpPr>
          <p:cNvPr id="17" name="Shape 12"/>
          <p:cNvSpPr/>
          <p:nvPr/>
        </p:nvSpPr>
        <p:spPr>
          <a:xfrm>
            <a:off x="836095" y="4861024"/>
            <a:ext cx="505011" cy="505023"/>
          </a:xfrm>
          <a:prstGeom prst="ellipse">
            <a:avLst/>
          </a:prstGeom>
          <a:solidFill>
            <a:srgbClr val="A9F00F"/>
          </a:solidFill>
          <a:ln/>
        </p:spPr>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4998" y="4999831"/>
            <a:ext cx="227205" cy="227211"/>
          </a:xfrm>
          <a:prstGeom prst="rect">
            <a:avLst/>
          </a:prstGeom>
        </p:spPr>
      </p:pic>
      <p:sp>
        <p:nvSpPr>
          <p:cNvPr id="19" name="Text 13"/>
          <p:cNvSpPr/>
          <p:nvPr/>
        </p:nvSpPr>
        <p:spPr>
          <a:xfrm>
            <a:off x="836095" y="5515967"/>
            <a:ext cx="5947618" cy="263029"/>
          </a:xfrm>
          <a:prstGeom prst="rect">
            <a:avLst/>
          </a:prstGeom>
          <a:noFill/>
          <a:ln/>
        </p:spPr>
        <p:txBody>
          <a:bodyPr wrap="none" lIns="0" tIns="0" rIns="0" bIns="0" rtlCol="0" anchor="t"/>
          <a:lstStyle/>
          <a:p>
            <a:pPr algn="l" indent="0" marL="0">
              <a:lnSpc>
                <a:spcPct val="104000"/>
              </a:lnSpc>
              <a:buNone/>
            </a:pPr>
            <a:r>
              <a:rPr lang="en-US" sz="1650" dirty="0">
                <a:solidFill>
                  <a:srgbClr val="FFFFFF"/>
                </a:solidFill>
                <a:latin typeface="Syne ExtraBold" pitchFamily="34" charset="0"/>
                <a:ea typeface="Syne ExtraBold" pitchFamily="34" charset="-122"/>
                <a:cs typeface="Syne ExtraBold" pitchFamily="34" charset="-120"/>
              </a:rPr>
              <a:t>Premier entrant</a:t>
            </a:r>
            <a:endParaRPr lang="en-US" sz="1650" dirty="0"/>
          </a:p>
        </p:txBody>
      </p:sp>
      <p:sp>
        <p:nvSpPr>
          <p:cNvPr id="20" name="Text 14"/>
          <p:cNvSpPr/>
          <p:nvPr/>
        </p:nvSpPr>
        <p:spPr>
          <a:xfrm>
            <a:off x="836095" y="5868888"/>
            <a:ext cx="5947618" cy="254595"/>
          </a:xfrm>
          <a:prstGeom prst="rect">
            <a:avLst/>
          </a:prstGeom>
          <a:noFill/>
          <a:ln/>
        </p:spPr>
        <p:txBody>
          <a:bodyPr wrap="none" lIns="0" tIns="0" rIns="0" bIns="0" rtlCol="0" anchor="t"/>
          <a:lstStyle/>
          <a:p>
            <a:pPr algn="l" indent="0" marL="0">
              <a:lnSpc>
                <a:spcPct val="126000"/>
              </a:lnSpc>
              <a:buNone/>
            </a:pPr>
            <a:r>
              <a:rPr lang="en-US" sz="1300" dirty="0">
                <a:solidFill>
                  <a:srgbClr val="FFFFFF"/>
                </a:solidFill>
                <a:latin typeface="Syne" pitchFamily="34" charset="0"/>
                <a:ea typeface="Syne" pitchFamily="34" charset="-122"/>
                <a:cs typeface="Syne" pitchFamily="34" charset="-120"/>
              </a:rPr>
              <a:t>Soyez les premiers à équiper la galaxie avant la prochaine purge fédérale.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583505"/>
            <a:ext cx="1077687" cy="260152"/>
          </a:xfrm>
          <a:prstGeom prst="roundRect">
            <a:avLst>
              <a:gd name="adj" fmla="val 22124"/>
            </a:avLst>
          </a:prstGeom>
          <a:solidFill>
            <a:srgbClr val="334805"/>
          </a:solidFill>
          <a:ln/>
        </p:spPr>
      </p:sp>
      <p:sp>
        <p:nvSpPr>
          <p:cNvPr id="4" name="Text 1"/>
          <p:cNvSpPr/>
          <p:nvPr/>
        </p:nvSpPr>
        <p:spPr>
          <a:xfrm>
            <a:off x="764164" y="634802"/>
            <a:ext cx="1481894" cy="157559"/>
          </a:xfrm>
          <a:prstGeom prst="rect">
            <a:avLst/>
          </a:prstGeom>
          <a:noFill/>
          <a:ln/>
        </p:spPr>
        <p:txBody>
          <a:bodyPr wrap="none" lIns="0" tIns="0" rIns="0" bIns="0" rtlCol="0" anchor="t"/>
          <a:lstStyle/>
          <a:p>
            <a:pPr algn="l" indent="0" marL="0">
              <a:lnSpc>
                <a:spcPct val="96000"/>
              </a:lnSpc>
              <a:buNone/>
            </a:pPr>
            <a:r>
              <a:rPr lang="en-US" sz="1050" dirty="0">
                <a:solidFill>
                  <a:srgbClr val="D7E5D8"/>
                </a:solidFill>
                <a:latin typeface="Syne" pitchFamily="34" charset="0"/>
                <a:ea typeface="Syne" pitchFamily="34" charset="-122"/>
                <a:cs typeface="Syne" pitchFamily="34" charset="-120"/>
              </a:rPr>
              <a:t>CONCLUSION</a:t>
            </a:r>
            <a:endParaRPr lang="en-US" sz="1050" dirty="0"/>
          </a:p>
        </p:txBody>
      </p:sp>
      <p:sp>
        <p:nvSpPr>
          <p:cNvPr id="5" name="Text 2"/>
          <p:cNvSpPr/>
          <p:nvPr/>
        </p:nvSpPr>
        <p:spPr>
          <a:xfrm>
            <a:off x="661475" y="905669"/>
            <a:ext cx="6296860" cy="1070570"/>
          </a:xfrm>
          <a:prstGeom prst="rect">
            <a:avLst/>
          </a:prstGeom>
          <a:noFill/>
          <a:ln/>
        </p:spPr>
        <p:txBody>
          <a:bodyPr wrap="square" lIns="0" tIns="0" rIns="0" bIns="0" rtlCol="0" anchor="t">
            <a:normAutofit/>
          </a:bodyPr>
          <a:lstStyle/>
          <a:p>
            <a:pPr algn="l" indent="0" marL="0">
              <a:lnSpc>
                <a:spcPct val="104000"/>
              </a:lnSpc>
              <a:buNone/>
            </a:pPr>
            <a:r>
              <a:rPr lang="en-US" sz="3350" dirty="0">
                <a:solidFill>
                  <a:srgbClr val="F0F4F1"/>
                </a:solidFill>
                <a:latin typeface="Syne ExtraBold" pitchFamily="34" charset="0"/>
                <a:ea typeface="Syne ExtraBold" pitchFamily="34" charset="-122"/>
                <a:cs typeface="Syne ExtraBold" pitchFamily="34" charset="-120"/>
              </a:rPr>
              <a:t>Le futur est à votre portée</a:t>
            </a:r>
            <a:endParaRPr lang="en-US" sz="3350" dirty="0"/>
          </a:p>
        </p:txBody>
      </p:sp>
      <p:sp>
        <p:nvSpPr>
          <p:cNvPr id="6" name="Text 3"/>
          <p:cNvSpPr/>
          <p:nvPr/>
        </p:nvSpPr>
        <p:spPr>
          <a:xfrm>
            <a:off x="918346" y="2383631"/>
            <a:ext cx="6649573" cy="261243"/>
          </a:xfrm>
          <a:prstGeom prst="rect">
            <a:avLst/>
          </a:prstGeom>
          <a:noFill/>
          <a:ln/>
        </p:spPr>
        <p:txBody>
          <a:bodyPr wrap="none" lIns="0" tIns="0" rIns="0" bIns="0" rtlCol="0" anchor="t"/>
          <a:lstStyle/>
          <a:p>
            <a:pPr algn="l" indent="0" marL="0">
              <a:lnSpc>
                <a:spcPct val="127000"/>
              </a:lnSpc>
              <a:buNone/>
            </a:pPr>
            <a:r>
              <a:rPr lang="en-US" sz="1300" dirty="0">
                <a:solidFill>
                  <a:srgbClr val="D7E5D8"/>
                </a:solidFill>
                <a:latin typeface="Syne" pitchFamily="34" charset="0"/>
                <a:ea typeface="Syne" pitchFamily="34" charset="-122"/>
                <a:cs typeface="Syne" pitchFamily="34" charset="-120"/>
              </a:rPr>
              <a:t>« Achetez votre bras avant que la Fédération ne le déclare illégal. »</a:t>
            </a:r>
            <a:endParaRPr lang="en-US" sz="1300" dirty="0"/>
          </a:p>
        </p:txBody>
      </p:sp>
      <p:sp>
        <p:nvSpPr>
          <p:cNvPr id="7" name="Shape 4"/>
          <p:cNvSpPr/>
          <p:nvPr/>
        </p:nvSpPr>
        <p:spPr>
          <a:xfrm>
            <a:off x="661475" y="2209006"/>
            <a:ext cx="19050" cy="610493"/>
          </a:xfrm>
          <a:prstGeom prst="roundRect">
            <a:avLst>
              <a:gd name="adj" fmla="val 49999"/>
            </a:avLst>
          </a:prstGeom>
          <a:solidFill>
            <a:srgbClr val="A9F00F"/>
          </a:solidFill>
          <a:ln/>
        </p:spPr>
      </p:sp>
      <p:sp>
        <p:nvSpPr>
          <p:cNvPr id="8" name="Shape 5"/>
          <p:cNvSpPr/>
          <p:nvPr/>
        </p:nvSpPr>
        <p:spPr>
          <a:xfrm>
            <a:off x="661475" y="2994124"/>
            <a:ext cx="6296860" cy="1941513"/>
          </a:xfrm>
          <a:prstGeom prst="roundRect">
            <a:avLst>
              <a:gd name="adj" fmla="val 3706"/>
            </a:avLst>
          </a:prstGeom>
          <a:solidFill>
            <a:srgbClr val="547808"/>
          </a:solidFill>
          <a:ln w="6350">
            <a:solidFill>
              <a:srgbClr val="6D9121"/>
            </a:solidFill>
            <a:prstDash val="solid"/>
          </a:ln>
        </p:spPr>
      </p:sp>
      <p:sp>
        <p:nvSpPr>
          <p:cNvPr id="9" name="Shape 6"/>
          <p:cNvSpPr/>
          <p:nvPr/>
        </p:nvSpPr>
        <p:spPr>
          <a:xfrm>
            <a:off x="667825" y="3000474"/>
            <a:ext cx="6284160" cy="964406"/>
          </a:xfrm>
          <a:custGeom>
            <a:avLst/>
            <a:gdLst/>
            <a:ahLst/>
            <a:cxnLst/>
            <a:rect l="l" t="t" r="r" b="b"/>
            <a:pathLst>
              <a:path w="6284160" h="964406">
                <a:moveTo>
                  <a:pt x="59954" y="0"/>
                </a:moveTo>
                <a:lnTo>
                  <a:pt x="6224206" y="0"/>
                </a:lnTo>
                <a:arcTo hR="59956" wR="59954" stAng="16200000" swAng="5400000"/>
                <a:lnTo>
                  <a:pt x="6284160" y="964406"/>
                </a:lnTo>
                <a:lnTo>
                  <a:pt x="0" y="964406"/>
                </a:lnTo>
                <a:lnTo>
                  <a:pt x="0" y="59956"/>
                </a:lnTo>
                <a:arcTo hR="59956" wR="59954" stAng="10800000" swAng="5400000"/>
                <a:close/>
              </a:path>
            </a:pathLst>
          </a:custGeom>
          <a:solidFill>
            <a:srgbClr val="547808"/>
          </a:solidFill>
          <a:ln/>
        </p:spPr>
      </p:sp>
      <p:sp>
        <p:nvSpPr>
          <p:cNvPr id="10" name="Text 7"/>
          <p:cNvSpPr/>
          <p:nvPr/>
        </p:nvSpPr>
        <p:spPr>
          <a:xfrm>
            <a:off x="839072" y="3171726"/>
            <a:ext cx="5941665" cy="267593"/>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650" dirty="0">
                <a:solidFill>
                  <a:srgbClr val="FFFFFF"/>
                </a:solidFill>
                <a:latin typeface="Syne ExtraBold" pitchFamily="34" charset="0"/>
                <a:ea typeface="Syne ExtraBold" pitchFamily="34" charset="-122"/>
                <a:cs typeface="Syne ExtraBold" pitchFamily="34" charset="-120"/>
              </a:rPr>
              <a:t> Une révolution</a:t>
            </a:r>
            <a:endParaRPr lang="en-US" sz="1650" dirty="0"/>
          </a:p>
        </p:txBody>
      </p:sp>
      <p:sp>
        <p:nvSpPr>
          <p:cNvPr id="11" name="Text 8"/>
          <p:cNvSpPr/>
          <p:nvPr/>
        </p:nvSpPr>
        <p:spPr>
          <a:xfrm>
            <a:off x="839072" y="3532386"/>
            <a:ext cx="5941665" cy="261243"/>
          </a:xfrm>
          <a:prstGeom prst="rect">
            <a:avLst/>
          </a:prstGeom>
          <a:noFill/>
          <a:ln/>
        </p:spPr>
        <p:txBody>
          <a:bodyPr wrap="none" lIns="0" tIns="0" rIns="0" bIns="0" rtlCol="0" anchor="t"/>
          <a:lstStyle/>
          <a:p>
            <a:pPr algn="l" indent="0" marL="0">
              <a:lnSpc>
                <a:spcPct val="127000"/>
              </a:lnSpc>
              <a:buNone/>
            </a:pPr>
            <a:r>
              <a:rPr lang="en-US" sz="1300" dirty="0">
                <a:solidFill>
                  <a:srgbClr val="FFFFFF"/>
                </a:solidFill>
                <a:latin typeface="Syne" pitchFamily="34" charset="0"/>
                <a:ea typeface="Syne" pitchFamily="34" charset="-122"/>
                <a:cs typeface="Syne" pitchFamily="34" charset="-120"/>
              </a:rPr>
              <a:t>Technologique, ou peut-être juste une erreur coûteuse. À vous de juger.</a:t>
            </a:r>
            <a:endParaRPr lang="en-US" sz="1300" dirty="0"/>
          </a:p>
        </p:txBody>
      </p:sp>
      <p:sp>
        <p:nvSpPr>
          <p:cNvPr id="12" name="Shape 9"/>
          <p:cNvSpPr/>
          <p:nvPr/>
        </p:nvSpPr>
        <p:spPr>
          <a:xfrm>
            <a:off x="667825" y="3964880"/>
            <a:ext cx="6284160" cy="964406"/>
          </a:xfrm>
          <a:custGeom>
            <a:avLst/>
            <a:gdLst/>
            <a:ahLst/>
            <a:cxnLst/>
            <a:rect l="l" t="t" r="r" b="b"/>
            <a:pathLst>
              <a:path w="6284160" h="964406">
                <a:moveTo>
                  <a:pt x="0" y="0"/>
                </a:moveTo>
                <a:lnTo>
                  <a:pt x="6284160" y="0"/>
                </a:lnTo>
                <a:lnTo>
                  <a:pt x="6284160" y="904450"/>
                </a:lnTo>
                <a:arcTo hR="59956" wR="59954" stAng="0" swAng="5400000"/>
                <a:lnTo>
                  <a:pt x="59954" y="964406"/>
                </a:lnTo>
                <a:arcTo hR="59956" wR="59954" stAng="5400000" swAng="5400000"/>
                <a:lnTo>
                  <a:pt x="0" y="0"/>
                </a:lnTo>
                <a:close/>
              </a:path>
            </a:pathLst>
          </a:custGeom>
          <a:solidFill>
            <a:srgbClr val="547808"/>
          </a:solidFill>
          <a:ln/>
        </p:spPr>
      </p:sp>
      <p:sp>
        <p:nvSpPr>
          <p:cNvPr id="13" name="Shape 10"/>
          <p:cNvSpPr/>
          <p:nvPr/>
        </p:nvSpPr>
        <p:spPr>
          <a:xfrm>
            <a:off x="667825" y="3964880"/>
            <a:ext cx="6284160" cy="19050"/>
          </a:xfrm>
          <a:prstGeom prst="roundRect">
            <a:avLst>
              <a:gd name="adj" fmla="val 49999"/>
            </a:avLst>
          </a:prstGeom>
          <a:solidFill>
            <a:srgbClr val="6D9121"/>
          </a:solidFill>
          <a:ln/>
        </p:spPr>
      </p:sp>
      <p:sp>
        <p:nvSpPr>
          <p:cNvPr id="14" name="Text 11"/>
          <p:cNvSpPr/>
          <p:nvPr/>
        </p:nvSpPr>
        <p:spPr>
          <a:xfrm>
            <a:off x="839072" y="4136132"/>
            <a:ext cx="5941665" cy="267593"/>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650" dirty="0">
                <a:solidFill>
                  <a:srgbClr val="FFFFFF"/>
                </a:solidFill>
                <a:latin typeface="Syne ExtraBold" pitchFamily="34" charset="0"/>
                <a:ea typeface="Syne ExtraBold" pitchFamily="34" charset="-122"/>
                <a:cs typeface="Syne ExtraBold" pitchFamily="34" charset="-120"/>
              </a:rPr>
              <a:t> Programme Beta</a:t>
            </a:r>
            <a:endParaRPr lang="en-US" sz="1650" dirty="0"/>
          </a:p>
        </p:txBody>
      </p:sp>
      <p:sp>
        <p:nvSpPr>
          <p:cNvPr id="15" name="Text 12"/>
          <p:cNvSpPr/>
          <p:nvPr/>
        </p:nvSpPr>
        <p:spPr>
          <a:xfrm>
            <a:off x="839072" y="4496792"/>
            <a:ext cx="5941665" cy="261243"/>
          </a:xfrm>
          <a:prstGeom prst="rect">
            <a:avLst/>
          </a:prstGeom>
          <a:noFill/>
          <a:ln/>
        </p:spPr>
        <p:txBody>
          <a:bodyPr wrap="none" lIns="0" tIns="0" rIns="0" bIns="0" rtlCol="0" anchor="t"/>
          <a:lstStyle/>
          <a:p>
            <a:pPr algn="l" indent="0" marL="0">
              <a:lnSpc>
                <a:spcPct val="127000"/>
              </a:lnSpc>
              <a:buNone/>
            </a:pPr>
            <a:r>
              <a:rPr lang="en-US" sz="1300" dirty="0">
                <a:solidFill>
                  <a:srgbClr val="FFFFFF"/>
                </a:solidFill>
                <a:latin typeface="Syne" pitchFamily="34" charset="0"/>
                <a:ea typeface="Syne" pitchFamily="34" charset="-122"/>
                <a:cs typeface="Syne" pitchFamily="34" charset="-120"/>
              </a:rPr>
              <a:t>Rejoignez le programme beta et changez votre réalité dès aujourd'hui.</a:t>
            </a:r>
            <a:endParaRPr lang="en-US" sz="1300" dirty="0"/>
          </a:p>
        </p:txBody>
      </p:sp>
      <p:sp>
        <p:nvSpPr>
          <p:cNvPr id="16" name="Shape 13"/>
          <p:cNvSpPr/>
          <p:nvPr/>
        </p:nvSpPr>
        <p:spPr>
          <a:xfrm>
            <a:off x="661475" y="5110262"/>
            <a:ext cx="6296860" cy="1164134"/>
          </a:xfrm>
          <a:prstGeom prst="roundRect">
            <a:avLst>
              <a:gd name="adj" fmla="val 6180"/>
            </a:avLst>
          </a:prstGeom>
          <a:solidFill>
            <a:srgbClr val="547808"/>
          </a:solidFill>
          <a:ln/>
        </p:spPr>
      </p:sp>
      <p:pic>
        <p:nvPicPr>
          <p:cNvPr id="17" name="Image 1" descr="preencoded.png">    </p:cNvPr>
          <p:cNvPicPr>
            <a:picLocks noChangeAspect="1"/>
          </p:cNvPicPr>
          <p:nvPr/>
        </p:nvPicPr>
        <p:blipFill>
          <a:blip r:embed="rId2"/>
          <a:stretch>
            <a:fillRect/>
          </a:stretch>
        </p:blipFill>
        <p:spPr>
          <a:xfrm>
            <a:off x="832722" y="5336084"/>
            <a:ext cx="214109" cy="171252"/>
          </a:xfrm>
          <a:prstGeom prst="rect">
            <a:avLst/>
          </a:prstGeom>
        </p:spPr>
      </p:pic>
      <p:sp>
        <p:nvSpPr>
          <p:cNvPr id="18" name="Text 14"/>
          <p:cNvSpPr/>
          <p:nvPr/>
        </p:nvSpPr>
        <p:spPr>
          <a:xfrm>
            <a:off x="1218078" y="5308203"/>
            <a:ext cx="5569009" cy="783729"/>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000000"/>
                </a:solidFill>
                <a:latin typeface="Syne" pitchFamily="34" charset="0"/>
                <a:ea typeface="Syne" pitchFamily="34" charset="-122"/>
                <a:cs typeface="Syne" pitchFamily="34" charset="-120"/>
              </a:rPr>
              <a:t>⚠️</a:t>
            </a:r>
            <a:pPr algn="l" indent="0" marL="0">
              <a:lnSpc>
                <a:spcPct val="127000"/>
              </a:lnSpc>
              <a:buNone/>
            </a:pPr>
            <a:r>
              <a:rPr lang="en-US" sz="1300" b="1" dirty="0">
                <a:solidFill>
                  <a:srgbClr val="FFFFFF"/>
                </a:solidFill>
                <a:latin typeface="Syne Bold" pitchFamily="34" charset="0"/>
                <a:ea typeface="Syne Bold" pitchFamily="34" charset="-122"/>
                <a:cs typeface="Syne Bold" pitchFamily="34" charset="-120"/>
              </a:rPr>
              <a:t> Avertissement :</a:t>
            </a:r>
            <a:pPr algn="l" indent="0" marL="0">
              <a:lnSpc>
                <a:spcPct val="127000"/>
              </a:lnSpc>
              <a:buNone/>
            </a:pPr>
            <a:r>
              <a:rPr lang="en-US" sz="1300" dirty="0">
                <a:solidFill>
                  <a:srgbClr val="FFFFFF"/>
                </a:solidFill>
                <a:latin typeface="Syne" pitchFamily="34" charset="0"/>
                <a:ea typeface="Syne" pitchFamily="34" charset="-122"/>
                <a:cs typeface="Syne" pitchFamily="34" charset="-120"/>
              </a:rPr>
              <a:t> armsPGL n'est pas responsable des fusions moléculaires, des paradoxes temporels ou des poursuites de la Fédération Galactique.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1197273"/>
            <a:ext cx="858618" cy="287139"/>
          </a:xfrm>
          <a:prstGeom prst="roundRect">
            <a:avLst>
              <a:gd name="adj" fmla="val 22118"/>
            </a:avLst>
          </a:prstGeom>
          <a:solidFill>
            <a:srgbClr val="334805"/>
          </a:solidFill>
          <a:ln/>
        </p:spPr>
      </p:sp>
      <p:sp>
        <p:nvSpPr>
          <p:cNvPr id="3" name="Text 1"/>
          <p:cNvSpPr/>
          <p:nvPr/>
        </p:nvSpPr>
        <p:spPr>
          <a:xfrm>
            <a:off x="774879" y="1253927"/>
            <a:ext cx="1241394" cy="173831"/>
          </a:xfrm>
          <a:prstGeom prst="rect">
            <a:avLst/>
          </a:prstGeom>
          <a:noFill/>
          <a:ln/>
        </p:spPr>
        <p:txBody>
          <a:bodyPr wrap="none" lIns="0" tIns="0" rIns="0" bIns="0" rtlCol="0" anchor="t"/>
          <a:lstStyle/>
          <a:p>
            <a:pPr algn="l" indent="0" marL="0">
              <a:lnSpc>
                <a:spcPct val="96000"/>
              </a:lnSpc>
              <a:buNone/>
            </a:pPr>
            <a:r>
              <a:rPr lang="en-US" sz="1150" dirty="0">
                <a:solidFill>
                  <a:srgbClr val="D7E5D8"/>
                </a:solidFill>
                <a:latin typeface="Syne" pitchFamily="34" charset="0"/>
                <a:ea typeface="Syne" pitchFamily="34" charset="-122"/>
                <a:cs typeface="Syne" pitchFamily="34" charset="-120"/>
              </a:rPr>
              <a:t>L'ÉQUIPE</a:t>
            </a:r>
            <a:endParaRPr lang="en-US" sz="1150" dirty="0"/>
          </a:p>
        </p:txBody>
      </p:sp>
      <p:sp>
        <p:nvSpPr>
          <p:cNvPr id="4" name="Text 2"/>
          <p:cNvSpPr/>
          <p:nvPr/>
        </p:nvSpPr>
        <p:spPr>
          <a:xfrm>
            <a:off x="661475" y="1560016"/>
            <a:ext cx="10868745" cy="590649"/>
          </a:xfrm>
          <a:prstGeom prst="rect">
            <a:avLst/>
          </a:prstGeom>
          <a:noFill/>
          <a:ln/>
        </p:spPr>
        <p:txBody>
          <a:bodyPr wrap="none" lIns="0" tIns="0" rIns="0" bIns="0" rtlCol="0" anchor="t"/>
          <a:lstStyle/>
          <a:p>
            <a:pPr algn="ctr" indent="0" marL="0">
              <a:lnSpc>
                <a:spcPct val="104000"/>
              </a:lnSpc>
              <a:buNone/>
            </a:pPr>
            <a:r>
              <a:rPr lang="en-US" sz="3700" dirty="0">
                <a:solidFill>
                  <a:srgbClr val="F0F4F1"/>
                </a:solidFill>
                <a:latin typeface="Syne ExtraBold" pitchFamily="34" charset="0"/>
                <a:ea typeface="Syne ExtraBold" pitchFamily="34" charset="-122"/>
                <a:cs typeface="Syne ExtraBold" pitchFamily="34" charset="-120"/>
              </a:rPr>
              <a:t>Créateurs</a:t>
            </a:r>
            <a:endParaRPr lang="en-US" sz="3700" dirty="0"/>
          </a:p>
        </p:txBody>
      </p:sp>
      <p:sp>
        <p:nvSpPr>
          <p:cNvPr id="5" name="Text 3"/>
          <p:cNvSpPr/>
          <p:nvPr/>
        </p:nvSpPr>
        <p:spPr>
          <a:xfrm>
            <a:off x="356682" y="2434134"/>
            <a:ext cx="11478330" cy="302419"/>
          </a:xfrm>
          <a:prstGeom prst="rect">
            <a:avLst/>
          </a:prstGeom>
          <a:noFill/>
          <a:ln/>
        </p:spPr>
        <p:txBody>
          <a:bodyPr wrap="none" lIns="0" tIns="0" rIns="0" bIns="0" rtlCol="0" anchor="t"/>
          <a:lstStyle/>
          <a:p>
            <a:pPr algn="ctr" indent="0" marL="0">
              <a:lnSpc>
                <a:spcPct val="133000"/>
              </a:lnSpc>
              <a:buNone/>
            </a:pPr>
            <a:r>
              <a:rPr lang="en-US" sz="1450" dirty="0">
                <a:solidFill>
                  <a:srgbClr val="D7E5D8"/>
                </a:solidFill>
                <a:latin typeface="Syne" pitchFamily="34" charset="0"/>
                <a:ea typeface="Syne" pitchFamily="34" charset="-122"/>
                <a:cs typeface="Syne" pitchFamily="34" charset="-120"/>
              </a:rPr>
              <a:t>Les esprits derrière la révolution </a:t>
            </a:r>
            <a:pPr algn="ctr" indent="0" marL="0">
              <a:lnSpc>
                <a:spcPct val="133000"/>
              </a:lnSpc>
              <a:buNone/>
            </a:pPr>
            <a:r>
              <a:rPr lang="en-US" sz="1450" b="1" dirty="0">
                <a:solidFill>
                  <a:srgbClr val="D7E5D8"/>
                </a:solidFill>
                <a:latin typeface="Syne Bold" pitchFamily="34" charset="0"/>
                <a:ea typeface="Syne Bold" pitchFamily="34" charset="-122"/>
                <a:cs typeface="Syne Bold" pitchFamily="34" charset="-120"/>
              </a:rPr>
              <a:t>armsPGL</a:t>
            </a:r>
            <a:endParaRPr lang="en-US" sz="1450" dirty="0"/>
          </a:p>
        </p:txBody>
      </p:sp>
      <p:sp>
        <p:nvSpPr>
          <p:cNvPr id="6" name="Shape 4"/>
          <p:cNvSpPr/>
          <p:nvPr/>
        </p:nvSpPr>
        <p:spPr>
          <a:xfrm>
            <a:off x="661475" y="2949178"/>
            <a:ext cx="3496877" cy="1397099"/>
          </a:xfrm>
          <a:prstGeom prst="roundRect">
            <a:avLst>
              <a:gd name="adj" fmla="val 5682"/>
            </a:avLst>
          </a:prstGeom>
          <a:solidFill>
            <a:srgbClr val="547808"/>
          </a:solidFill>
          <a:ln w="6350">
            <a:solidFill>
              <a:srgbClr val="6D9121"/>
            </a:solidFill>
            <a:prstDash val="solid"/>
          </a:ln>
        </p:spPr>
      </p:sp>
      <p:sp>
        <p:nvSpPr>
          <p:cNvPr id="7" name="Text 5"/>
          <p:cNvSpPr/>
          <p:nvPr/>
        </p:nvSpPr>
        <p:spPr>
          <a:xfrm>
            <a:off x="856832" y="3144540"/>
            <a:ext cx="3106164"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FFFFFF"/>
                </a:solidFill>
                <a:latin typeface="Syne ExtraBold" pitchFamily="34" charset="0"/>
                <a:ea typeface="Syne ExtraBold" pitchFamily="34" charset="-122"/>
                <a:cs typeface="Syne ExtraBold" pitchFamily="34" charset="-120"/>
              </a:rPr>
              <a:t>Brennan Brontesi</a:t>
            </a:r>
            <a:endParaRPr lang="en-US" sz="1850" dirty="0"/>
          </a:p>
        </p:txBody>
      </p:sp>
      <p:sp>
        <p:nvSpPr>
          <p:cNvPr id="8" name="Text 6"/>
          <p:cNvSpPr/>
          <p:nvPr/>
        </p:nvSpPr>
        <p:spPr>
          <a:xfrm>
            <a:off x="856832" y="3848497"/>
            <a:ext cx="3106164"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Syne" pitchFamily="34" charset="0"/>
                <a:ea typeface="Syne" pitchFamily="34" charset="-122"/>
                <a:cs typeface="Syne" pitchFamily="34" charset="-120"/>
              </a:rPr>
              <a:t>Co-fondateur &amp; Visionnaire</a:t>
            </a:r>
            <a:endParaRPr lang="en-US" sz="1450" dirty="0"/>
          </a:p>
        </p:txBody>
      </p:sp>
      <p:sp>
        <p:nvSpPr>
          <p:cNvPr id="9" name="Shape 7"/>
          <p:cNvSpPr/>
          <p:nvPr/>
        </p:nvSpPr>
        <p:spPr>
          <a:xfrm>
            <a:off x="4347359" y="2949178"/>
            <a:ext cx="3496877" cy="1397099"/>
          </a:xfrm>
          <a:prstGeom prst="roundRect">
            <a:avLst>
              <a:gd name="adj" fmla="val 5682"/>
            </a:avLst>
          </a:prstGeom>
          <a:solidFill>
            <a:srgbClr val="547808"/>
          </a:solidFill>
          <a:ln w="6350">
            <a:solidFill>
              <a:srgbClr val="6D9121"/>
            </a:solidFill>
            <a:prstDash val="solid"/>
          </a:ln>
        </p:spPr>
      </p:sp>
      <p:sp>
        <p:nvSpPr>
          <p:cNvPr id="10" name="Text 8"/>
          <p:cNvSpPr/>
          <p:nvPr/>
        </p:nvSpPr>
        <p:spPr>
          <a:xfrm>
            <a:off x="4542716" y="3144540"/>
            <a:ext cx="3106164"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FFFFFF"/>
                </a:solidFill>
                <a:latin typeface="Syne ExtraBold" pitchFamily="34" charset="0"/>
                <a:ea typeface="Syne ExtraBold" pitchFamily="34" charset="-122"/>
                <a:cs typeface="Syne ExtraBold" pitchFamily="34" charset="-120"/>
              </a:rPr>
              <a:t>TERAOU Christian</a:t>
            </a:r>
            <a:endParaRPr lang="en-US" sz="1850" dirty="0"/>
          </a:p>
        </p:txBody>
      </p:sp>
      <p:sp>
        <p:nvSpPr>
          <p:cNvPr id="11" name="Text 9"/>
          <p:cNvSpPr/>
          <p:nvPr/>
        </p:nvSpPr>
        <p:spPr>
          <a:xfrm>
            <a:off x="4542716" y="3848497"/>
            <a:ext cx="3106164"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Syne" pitchFamily="34" charset="0"/>
                <a:ea typeface="Syne" pitchFamily="34" charset="-122"/>
                <a:cs typeface="Syne" pitchFamily="34" charset="-120"/>
              </a:rPr>
              <a:t>Co-fondateur &amp; Ingénieur</a:t>
            </a:r>
            <a:endParaRPr lang="en-US" sz="1450" dirty="0"/>
          </a:p>
        </p:txBody>
      </p:sp>
      <p:sp>
        <p:nvSpPr>
          <p:cNvPr id="12" name="Shape 10"/>
          <p:cNvSpPr/>
          <p:nvPr/>
        </p:nvSpPr>
        <p:spPr>
          <a:xfrm>
            <a:off x="8033244" y="2949178"/>
            <a:ext cx="3496877" cy="1397099"/>
          </a:xfrm>
          <a:prstGeom prst="roundRect">
            <a:avLst>
              <a:gd name="adj" fmla="val 5682"/>
            </a:avLst>
          </a:prstGeom>
          <a:solidFill>
            <a:srgbClr val="547808"/>
          </a:solidFill>
          <a:ln w="6350">
            <a:solidFill>
              <a:srgbClr val="6D9121"/>
            </a:solidFill>
            <a:prstDash val="solid"/>
          </a:ln>
        </p:spPr>
      </p:sp>
      <p:sp>
        <p:nvSpPr>
          <p:cNvPr id="13" name="Text 11"/>
          <p:cNvSpPr/>
          <p:nvPr/>
        </p:nvSpPr>
        <p:spPr>
          <a:xfrm>
            <a:off x="8228600" y="3144540"/>
            <a:ext cx="3106164" cy="295275"/>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Syne ExtraBold" pitchFamily="34" charset="0"/>
                <a:ea typeface="Syne ExtraBold" pitchFamily="34" charset="-122"/>
                <a:cs typeface="Syne ExtraBold" pitchFamily="34" charset="-120"/>
              </a:rPr>
              <a:t>Brandon Gueye</a:t>
            </a:r>
            <a:endParaRPr lang="en-US" sz="1850" dirty="0"/>
          </a:p>
        </p:txBody>
      </p:sp>
      <p:sp>
        <p:nvSpPr>
          <p:cNvPr id="14" name="Text 12"/>
          <p:cNvSpPr/>
          <p:nvPr/>
        </p:nvSpPr>
        <p:spPr>
          <a:xfrm>
            <a:off x="8228600" y="3553222"/>
            <a:ext cx="3106164"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Syne" pitchFamily="34" charset="0"/>
                <a:ea typeface="Syne" pitchFamily="34" charset="-122"/>
                <a:cs typeface="Syne" pitchFamily="34" charset="-120"/>
              </a:rPr>
              <a:t>Co-fondateur &amp; Design</a:t>
            </a:r>
            <a:endParaRPr lang="en-US" sz="1450" dirty="0"/>
          </a:p>
        </p:txBody>
      </p:sp>
      <p:sp>
        <p:nvSpPr>
          <p:cNvPr id="15" name="Shape 13"/>
          <p:cNvSpPr/>
          <p:nvPr/>
        </p:nvSpPr>
        <p:spPr>
          <a:xfrm>
            <a:off x="661475" y="4558903"/>
            <a:ext cx="3496877" cy="1101824"/>
          </a:xfrm>
          <a:prstGeom prst="roundRect">
            <a:avLst>
              <a:gd name="adj" fmla="val 7205"/>
            </a:avLst>
          </a:prstGeom>
          <a:solidFill>
            <a:srgbClr val="547808"/>
          </a:solidFill>
          <a:ln w="6350">
            <a:solidFill>
              <a:srgbClr val="6D9121"/>
            </a:solidFill>
            <a:prstDash val="solid"/>
          </a:ln>
        </p:spPr>
      </p:sp>
      <p:sp>
        <p:nvSpPr>
          <p:cNvPr id="16" name="Text 14"/>
          <p:cNvSpPr/>
          <p:nvPr/>
        </p:nvSpPr>
        <p:spPr>
          <a:xfrm>
            <a:off x="856832" y="4754265"/>
            <a:ext cx="3106164" cy="295275"/>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Syne ExtraBold" pitchFamily="34" charset="0"/>
                <a:ea typeface="Syne ExtraBold" pitchFamily="34" charset="-122"/>
                <a:cs typeface="Syne ExtraBold" pitchFamily="34" charset="-120"/>
              </a:rPr>
              <a:t>Kone Mohamed</a:t>
            </a:r>
            <a:endParaRPr lang="en-US" sz="1850" dirty="0"/>
          </a:p>
        </p:txBody>
      </p:sp>
      <p:sp>
        <p:nvSpPr>
          <p:cNvPr id="17" name="Text 15"/>
          <p:cNvSpPr/>
          <p:nvPr/>
        </p:nvSpPr>
        <p:spPr>
          <a:xfrm>
            <a:off x="856832" y="5162947"/>
            <a:ext cx="3106164"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Syne" pitchFamily="34" charset="0"/>
                <a:ea typeface="Syne" pitchFamily="34" charset="-122"/>
                <a:cs typeface="Syne" pitchFamily="34" charset="-120"/>
              </a:rPr>
              <a:t>Co-fondateur &amp; Stratégie</a:t>
            </a:r>
            <a:endParaRPr lang="en-US" sz="1450" dirty="0"/>
          </a:p>
        </p:txBody>
      </p:sp>
      <p:sp>
        <p:nvSpPr>
          <p:cNvPr id="18" name="Shape 16"/>
          <p:cNvSpPr/>
          <p:nvPr/>
        </p:nvSpPr>
        <p:spPr>
          <a:xfrm>
            <a:off x="4347359" y="4558903"/>
            <a:ext cx="3496877" cy="1101824"/>
          </a:xfrm>
          <a:prstGeom prst="roundRect">
            <a:avLst>
              <a:gd name="adj" fmla="val 7205"/>
            </a:avLst>
          </a:prstGeom>
          <a:solidFill>
            <a:srgbClr val="547808"/>
          </a:solidFill>
          <a:ln w="6350">
            <a:solidFill>
              <a:srgbClr val="6D9121"/>
            </a:solidFill>
            <a:prstDash val="solid"/>
          </a:ln>
        </p:spPr>
      </p:sp>
      <p:sp>
        <p:nvSpPr>
          <p:cNvPr id="19" name="Text 17"/>
          <p:cNvSpPr/>
          <p:nvPr/>
        </p:nvSpPr>
        <p:spPr>
          <a:xfrm>
            <a:off x="4542716" y="4754265"/>
            <a:ext cx="3106164" cy="295275"/>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Syne ExtraBold" pitchFamily="34" charset="0"/>
                <a:ea typeface="Syne ExtraBold" pitchFamily="34" charset="-122"/>
                <a:cs typeface="Syne ExtraBold" pitchFamily="34" charset="-120"/>
              </a:rPr>
              <a:t>Kameni Clara</a:t>
            </a:r>
            <a:endParaRPr lang="en-US" sz="1850" dirty="0"/>
          </a:p>
        </p:txBody>
      </p:sp>
      <p:sp>
        <p:nvSpPr>
          <p:cNvPr id="20" name="Text 18"/>
          <p:cNvSpPr/>
          <p:nvPr/>
        </p:nvSpPr>
        <p:spPr>
          <a:xfrm>
            <a:off x="4542716" y="5162947"/>
            <a:ext cx="3106164"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Syne" pitchFamily="34" charset="0"/>
                <a:ea typeface="Syne" pitchFamily="34" charset="-122"/>
                <a:cs typeface="Syne" pitchFamily="34" charset="-120"/>
              </a:rPr>
              <a:t>Co-fondatrice &amp; Innovation</a:t>
            </a:r>
            <a:endParaRPr lang="en-US" sz="1450" dirty="0"/>
          </a:p>
        </p:txBody>
      </p:sp>
      <p:sp>
        <p:nvSpPr>
          <p:cNvPr id="21" name="Shape 19"/>
          <p:cNvSpPr/>
          <p:nvPr/>
        </p:nvSpPr>
        <p:spPr>
          <a:xfrm>
            <a:off x="8033244" y="4558903"/>
            <a:ext cx="3496877" cy="1101824"/>
          </a:xfrm>
          <a:prstGeom prst="roundRect">
            <a:avLst>
              <a:gd name="adj" fmla="val 7205"/>
            </a:avLst>
          </a:prstGeom>
          <a:solidFill>
            <a:srgbClr val="547808"/>
          </a:solidFill>
          <a:ln w="6350">
            <a:solidFill>
              <a:srgbClr val="6D9121"/>
            </a:solidFill>
            <a:prstDash val="solid"/>
          </a:ln>
        </p:spPr>
      </p:sp>
      <p:sp>
        <p:nvSpPr>
          <p:cNvPr id="22" name="Text 20"/>
          <p:cNvSpPr/>
          <p:nvPr/>
        </p:nvSpPr>
        <p:spPr>
          <a:xfrm>
            <a:off x="8228600" y="4754265"/>
            <a:ext cx="3106164" cy="295275"/>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Syne ExtraBold" pitchFamily="34" charset="0"/>
                <a:ea typeface="Syne ExtraBold" pitchFamily="34" charset="-122"/>
                <a:cs typeface="Syne ExtraBold" pitchFamily="34" charset="-120"/>
              </a:rPr>
              <a:t>Amani Jean</a:t>
            </a:r>
            <a:endParaRPr lang="en-US" sz="1850" dirty="0"/>
          </a:p>
        </p:txBody>
      </p:sp>
      <p:sp>
        <p:nvSpPr>
          <p:cNvPr id="23" name="Text 21"/>
          <p:cNvSpPr/>
          <p:nvPr/>
        </p:nvSpPr>
        <p:spPr>
          <a:xfrm>
            <a:off x="8228600" y="5162947"/>
            <a:ext cx="3106164"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Syne" pitchFamily="34" charset="0"/>
                <a:ea typeface="Syne" pitchFamily="34" charset="-122"/>
                <a:cs typeface="Syne" pitchFamily="34" charset="-120"/>
              </a:rPr>
              <a:t>Co-fondateur &amp; Développement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2026-09-18T08:48:24Z</dcterms:created>
  <dcterms:modified xsi:type="dcterms:W3CDTF">2026-09-18T08:48:24Z</dcterms:modified>
</cp:coreProperties>
</file>